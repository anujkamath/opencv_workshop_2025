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2" r:id="rId3"/>
    <p:sldId id="257" r:id="rId4"/>
    <p:sldId id="259" r:id="rId5"/>
    <p:sldId id="260" r:id="rId6"/>
    <p:sldId id="261" r:id="rId7"/>
    <p:sldId id="266" r:id="rId8"/>
    <p:sldId id="267" r:id="rId9"/>
    <p:sldId id="263" r:id="rId10"/>
    <p:sldId id="264" r:id="rId11"/>
    <p:sldId id="265" r:id="rId12"/>
    <p:sldId id="269" r:id="rId13"/>
    <p:sldId id="268" r:id="rId14"/>
    <p:sldId id="271" r:id="rId15"/>
    <p:sldId id="270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  <p:sldId id="281" r:id="rId25"/>
    <p:sldId id="282" r:id="rId26"/>
    <p:sldId id="283" r:id="rId27"/>
    <p:sldId id="284" r:id="rId28"/>
    <p:sldId id="286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April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77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0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604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4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3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6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April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5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April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3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E2DDD-C98D-DCF1-CF60-64C7A46BE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r>
              <a:rPr lang="en-IN" sz="4800" dirty="0"/>
              <a:t>OpenCV Workshop : Python Basics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EA3D2F9-3B6B-BF6A-4599-43FD4B8C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7" r="13396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032" name="Picture 8" descr="python™">
            <a:extLst>
              <a:ext uri="{FF2B5EF4-FFF2-40B4-BE49-F238E27FC236}">
                <a16:creationId xmlns:a16="http://schemas.microsoft.com/office/drawing/2014/main" id="{E13DC2FA-9355-D549-04EF-7C490D4E1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4" y="3511872"/>
            <a:ext cx="3452160" cy="97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03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F5571-3D1D-F722-C859-6DD15306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437185" cy="1997855"/>
          </a:xfrm>
        </p:spPr>
        <p:txBody>
          <a:bodyPr wrap="square" anchor="b">
            <a:normAutofit/>
          </a:bodyPr>
          <a:lstStyle/>
          <a:p>
            <a:r>
              <a:rPr lang="en-IN" dirty="0"/>
              <a:t>AGENDA 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1C58CB-4B97-1368-ACC0-AD002FB46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677306"/>
            <a:ext cx="5437187" cy="341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Introduction &amp; Overview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Indentations &amp; Print Statements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Inputs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 Flow: If/Else and Loops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Defining and Using Functions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Structures: Lists, Tuples, Dictionaries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Indexing, Looping &amp; Operations on Collections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String Operations: Formatting, Upper &amp; Lower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Introduction to NumPy Arrays and Basic Operations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Interactive Exercises &amp; Q/A</a:t>
            </a:r>
          </a:p>
        </p:txBody>
      </p:sp>
      <p:pic>
        <p:nvPicPr>
          <p:cNvPr id="8" name="Graphic 7" descr="Flowchart">
            <a:extLst>
              <a:ext uri="{FF2B5EF4-FFF2-40B4-BE49-F238E27FC236}">
                <a16:creationId xmlns:a16="http://schemas.microsoft.com/office/drawing/2014/main" id="{726BCF77-52CF-5CEC-F153-B645DAFB2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4675" y="1072039"/>
            <a:ext cx="4713922" cy="4713922"/>
          </a:xfrm>
          <a:custGeom>
            <a:avLst/>
            <a:gdLst/>
            <a:ahLst/>
            <a:cxnLst/>
            <a:rect l="l" t="t" r="r" b="b"/>
            <a:pathLst>
              <a:path w="4713922" h="5759450">
                <a:moveTo>
                  <a:pt x="0" y="0"/>
                </a:moveTo>
                <a:lnTo>
                  <a:pt x="4713922" y="0"/>
                </a:lnTo>
                <a:lnTo>
                  <a:pt x="4713922" y="5759450"/>
                </a:lnTo>
                <a:lnTo>
                  <a:pt x="0" y="5759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181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E4A38-EA74-C9A6-5AC4-277A8554E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412" y="549275"/>
            <a:ext cx="5437185" cy="1997855"/>
          </a:xfrm>
        </p:spPr>
        <p:txBody>
          <a:bodyPr wrap="square" anchor="b">
            <a:normAutofit/>
          </a:bodyPr>
          <a:lstStyle/>
          <a:p>
            <a:r>
              <a:rPr lang="en-IN" dirty="0"/>
              <a:t>What is Python?</a:t>
            </a:r>
          </a:p>
        </p:txBody>
      </p:sp>
      <p:pic>
        <p:nvPicPr>
          <p:cNvPr id="7" name="Graphic 6" descr="Snake">
            <a:extLst>
              <a:ext uri="{FF2B5EF4-FFF2-40B4-BE49-F238E27FC236}">
                <a16:creationId xmlns:a16="http://schemas.microsoft.com/office/drawing/2014/main" id="{7B5AD394-492D-2726-8202-94CEC7850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403" y="882969"/>
            <a:ext cx="5092062" cy="5092062"/>
          </a:xfrm>
          <a:custGeom>
            <a:avLst/>
            <a:gdLst/>
            <a:ahLst/>
            <a:cxnLst/>
            <a:rect l="l" t="t" r="r" b="b"/>
            <a:pathLst>
              <a:path w="5092062" h="5759450">
                <a:moveTo>
                  <a:pt x="0" y="0"/>
                </a:moveTo>
                <a:lnTo>
                  <a:pt x="5092062" y="0"/>
                </a:lnTo>
                <a:lnTo>
                  <a:pt x="509206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22EE1-F02D-2F5B-851A-A4790C8B8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1410" y="2677306"/>
            <a:ext cx="5437187" cy="3415519"/>
          </a:xfrm>
        </p:spPr>
        <p:txBody>
          <a:bodyPr anchor="t">
            <a:normAutofit/>
          </a:bodyPr>
          <a:lstStyle/>
          <a:p>
            <a:r>
              <a:rPr lang="en-US" sz="2800" b="0" i="0" dirty="0">
                <a:effectLst/>
                <a:latin typeface="Arial" panose="020B0604020202020204" pitchFamily="34" charset="0"/>
              </a:rPr>
              <a:t>Python is a genus of constricting snakes in the Pythonidae family native to the tropics and subtropics of the Eastern Hemisphere.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1515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40082A1-24A5-4276-83A4-39E993BD6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840B21-A957-4CFE-AA5B-9711DF6D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5000" y="397225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8602A-07D9-85D3-FB82-E540E3E3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549275"/>
            <a:ext cx="9217026" cy="38645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9600" dirty="0"/>
              <a:t>Wrong Slide 💀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FD4376-13D5-43C1-86D8-8133A9D8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33126" y="5677571"/>
            <a:ext cx="631474" cy="667800"/>
            <a:chOff x="2994153" y="1378666"/>
            <a:chExt cx="631474" cy="6678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76FEFF4-F643-4DA7-93C4-E222FCBA0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5000"/>
                    <a:lumOff val="5000"/>
                  </a:schemeClr>
                </a:gs>
                <a:gs pos="30000">
                  <a:schemeClr val="bg2">
                    <a:lumMod val="95000"/>
                    <a:lumOff val="5000"/>
                  </a:schemeClr>
                </a:gs>
                <a:gs pos="40000">
                  <a:schemeClr val="bg2">
                    <a:lumMod val="85000"/>
                    <a:lumOff val="1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059AD75-BB86-41B7-84D4-4B5AE0E21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980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4E3EC-47F0-D85C-8503-2C2AEB3F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03" y="356235"/>
            <a:ext cx="5437185" cy="1997855"/>
          </a:xfrm>
        </p:spPr>
        <p:txBody>
          <a:bodyPr wrap="square" anchor="b">
            <a:normAutofit/>
          </a:bodyPr>
          <a:lstStyle/>
          <a:p>
            <a:r>
              <a:rPr lang="en-IN" sz="6000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7DBA-8DF0-8358-E72B-4E9363DC2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403" y="2354090"/>
            <a:ext cx="6879907" cy="4221334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What?</a:t>
            </a:r>
          </a:p>
          <a:p>
            <a:pPr>
              <a:lnSpc>
                <a:spcPct val="100000"/>
              </a:lnSpc>
            </a:pPr>
            <a:r>
              <a:rPr lang="en-US" b="1" dirty="0"/>
              <a:t>Python is a high-level, interpreted programming language known for its simplicity and readability. It's widely used by beginners and professionals alike for a variety of tasks.</a:t>
            </a:r>
            <a:endParaRPr lang="en-IN" b="1" dirty="0"/>
          </a:p>
          <a:p>
            <a:pPr>
              <a:lnSpc>
                <a:spcPct val="100000"/>
              </a:lnSpc>
            </a:pPr>
            <a:r>
              <a:rPr lang="en-US" b="1" dirty="0"/>
              <a:t>Why Python?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/>
              <a:t>Beginner-Friendly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/>
              <a:t>Versatile &amp; Powerful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/>
              <a:t>Huge Community &amp; Library Support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/>
              <a:t>Cross-Platform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8BC429BF-5DF5-260E-2BD8-269829D3D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4675" y="1072039"/>
            <a:ext cx="4713922" cy="4713922"/>
          </a:xfrm>
          <a:custGeom>
            <a:avLst/>
            <a:gdLst/>
            <a:ahLst/>
            <a:cxnLst/>
            <a:rect l="l" t="t" r="r" b="b"/>
            <a:pathLst>
              <a:path w="4713922" h="5759450">
                <a:moveTo>
                  <a:pt x="0" y="0"/>
                </a:moveTo>
                <a:lnTo>
                  <a:pt x="4713922" y="0"/>
                </a:lnTo>
                <a:lnTo>
                  <a:pt x="4713922" y="5759450"/>
                </a:lnTo>
                <a:lnTo>
                  <a:pt x="0" y="5759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393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8B44-C22B-614A-B221-3A2695D6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Syntax –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7D4BC-8317-4B0D-DD3E-2385945B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1. Indentation Matters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Python uses indentation to define code blocks.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Consistent indentation is crucial; typically, 4 spaces are used.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(Incorrect indentation will lead to errors.)</a:t>
            </a:r>
          </a:p>
          <a:p>
            <a:pPr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69A6EE-CE4D-6587-8BFF-2B8DBDE93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668" y="1278333"/>
            <a:ext cx="6519612" cy="24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5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78B-4F77-6597-2320-2E18899A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F910-74F9-AB7F-762E-D5A5702E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Python Syntax –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90A4-533A-E933-4546-7D3DA5430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583379"/>
            <a:ext cx="11090274" cy="3979625"/>
          </a:xfrm>
        </p:spPr>
        <p:txBody>
          <a:bodyPr/>
          <a:lstStyle/>
          <a:p>
            <a:pPr>
              <a:buNone/>
            </a:pPr>
            <a:r>
              <a:rPr lang="en-US" sz="4000" b="1" dirty="0">
                <a:solidFill>
                  <a:schemeClr val="tx1"/>
                </a:solidFill>
              </a:rPr>
              <a:t>1. Indentation MATTERS!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Python uses indentation to define code blocks.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{ } needed like in C++/Java/JavaScript.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Consistent indentation is crucial; typically, </a:t>
            </a:r>
            <a:r>
              <a:rPr lang="en-US" b="1" dirty="0">
                <a:solidFill>
                  <a:schemeClr val="tx1"/>
                </a:solidFill>
              </a:rPr>
              <a:t>4 spaces are used</a:t>
            </a:r>
            <a:r>
              <a:rPr lang="en-US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(Incorrect indentation will lead to errors.)</a:t>
            </a:r>
          </a:p>
          <a:p>
            <a:pPr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BDCCF-462C-9703-A60E-A863F09D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235" y="3875347"/>
            <a:ext cx="9126970" cy="337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1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D1105-D916-110C-850C-D8B15241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40CA-D06D-F858-E665-FE754A8E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IN" b="1" dirty="0">
                <a:solidFill>
                  <a:schemeClr val="tx1"/>
                </a:solidFill>
              </a:rPr>
              <a:t> Variables and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E1C32-1DAC-0014-36CA-75A5DBD70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Variables are created by assigning values using </a:t>
            </a:r>
            <a:r>
              <a:rPr lang="en-US" b="1" dirty="0">
                <a:solidFill>
                  <a:schemeClr val="tx1"/>
                </a:solidFill>
              </a:rPr>
              <a:t>the ‘=‘ operator.</a:t>
            </a:r>
          </a:p>
          <a:p>
            <a:r>
              <a:rPr lang="en-US" dirty="0"/>
              <a:t>No need to declare variable types explicitly.</a:t>
            </a:r>
            <a:endParaRPr lang="en-IN" b="1" dirty="0">
              <a:solidFill>
                <a:schemeClr val="tx1"/>
              </a:solidFill>
            </a:endParaRPr>
          </a:p>
          <a:p>
            <a:pPr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6353CF-A911-CD24-1E5F-EFE37DD1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6" y="2988413"/>
            <a:ext cx="9595869" cy="35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2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8C20-F948-9DFA-C3EE-98085196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IN" b="1" dirty="0">
                <a:solidFill>
                  <a:schemeClr val="tx1"/>
                </a:solidFill>
              </a:rPr>
              <a:t>Seeing Output: Print()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298F-2693-45BA-567C-73966F63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way to display information, variables, results.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7243F-917A-1B94-ABDA-66CF08E3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05" b="23324"/>
          <a:stretch/>
        </p:blipFill>
        <p:spPr>
          <a:xfrm>
            <a:off x="550862" y="3068320"/>
            <a:ext cx="11487150" cy="2076446"/>
          </a:xfrm>
          <a:prstGeom prst="rect">
            <a:avLst/>
          </a:prstGeom>
        </p:spPr>
      </p:pic>
      <p:pic>
        <p:nvPicPr>
          <p:cNvPr id="5122" name="Picture 2" descr="Lollipop store">
            <a:extLst>
              <a:ext uri="{FF2B5EF4-FFF2-40B4-BE49-F238E27FC236}">
                <a16:creationId xmlns:a16="http://schemas.microsoft.com/office/drawing/2014/main" id="{F08F4CDF-5894-3F55-AC47-D43369748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276" y="5376690"/>
            <a:ext cx="1285597" cy="135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4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052F-77BA-FABE-817C-9FFC0C55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BF7D-2125-70BE-4637-72D632CD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Syntax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D65C-E8A9-D78B-C59B-1AC051DC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2021190"/>
            <a:ext cx="11163617" cy="3979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5. String Syntax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b="1" dirty="0"/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6. Case Sensitivity   </a:t>
            </a:r>
            <a:r>
              <a:rPr lang="en-IN" sz="2800" b="1" u="sng" dirty="0">
                <a:solidFill>
                  <a:schemeClr val="tx1"/>
                </a:solidFill>
              </a:rPr>
              <a:t>Python is case-sensitive</a:t>
            </a:r>
            <a:r>
              <a:rPr lang="en-IN" sz="2800" b="1" u="sng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CB90B4-EA7D-877B-A7CF-BD028C36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042" y="1215275"/>
            <a:ext cx="7467822" cy="3232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96DF37-83E3-3DCC-1B27-C060CBF6F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042" y="4011002"/>
            <a:ext cx="7284913" cy="315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7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8E79-8F17-90AB-1A6B-1D667F55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Getting User Input:      </a:t>
            </a:r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input()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D721D-ED53-D3A4-4529-11DF60A1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1" t="22138" r="7900" b="20224"/>
          <a:stretch/>
        </p:blipFill>
        <p:spPr>
          <a:xfrm>
            <a:off x="754693" y="2357119"/>
            <a:ext cx="10887769" cy="2753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2CB5C-90BD-27CD-4E12-347CF805A187}"/>
              </a:ext>
            </a:extLst>
          </p:cNvPr>
          <p:cNvSpPr txBox="1"/>
          <p:nvPr/>
        </p:nvSpPr>
        <p:spPr>
          <a:xfrm>
            <a:off x="4206240" y="5232400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is that simple !! </a:t>
            </a:r>
          </a:p>
        </p:txBody>
      </p:sp>
    </p:spTree>
    <p:extLst>
      <p:ext uri="{BB962C8B-B14F-4D97-AF65-F5344CB8AC3E}">
        <p14:creationId xmlns:p14="http://schemas.microsoft.com/office/powerpoint/2010/main" val="122433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30AA3-0F0C-493A-19D0-25F699A7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Conditional Statements</a:t>
            </a:r>
            <a:br>
              <a:rPr lang="en-IN" dirty="0"/>
            </a:br>
            <a:r>
              <a:rPr lang="en-IN" dirty="0"/>
              <a:t>if / </a:t>
            </a:r>
            <a:r>
              <a:rPr lang="en-IN" dirty="0" err="1"/>
              <a:t>elif</a:t>
            </a:r>
            <a:r>
              <a:rPr lang="en-IN" dirty="0"/>
              <a:t> /else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F1FB-4F5F-E4AC-692B-DA778596A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flow based on conditions.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BB6AB-779D-0116-EB83-EB8C821E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266"/>
          <a:stretch/>
        </p:blipFill>
        <p:spPr>
          <a:xfrm>
            <a:off x="446952" y="2431471"/>
            <a:ext cx="4792164" cy="2317173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DC8C681-9551-5615-EF39-24635897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369" y="2431472"/>
            <a:ext cx="6380161" cy="23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2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4CB1-E038-05C6-88A3-18BA8AA1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 Conditions (For Loop)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C5A726-6311-43C8-2C96-8FFD4F9CE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9" y="1568351"/>
            <a:ext cx="11090274" cy="3979625"/>
          </a:xfrm>
        </p:spPr>
        <p:txBody>
          <a:bodyPr/>
          <a:lstStyle/>
          <a:p>
            <a:r>
              <a:rPr lang="en-IN" dirty="0"/>
              <a:t>For Loop : </a:t>
            </a:r>
            <a:r>
              <a:rPr lang="en-US" dirty="0"/>
              <a:t>Iterates over a sequence (like a list, tuple, or string).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B697B0-7AE4-0E25-FC00-ACA2B39A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09" y="2024783"/>
            <a:ext cx="8786963" cy="20692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892DC8-35F8-4E10-07C1-D24776790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09" y="4322367"/>
            <a:ext cx="8407112" cy="224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12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9B23-79B2-EAD9-B7E3-E0E7019B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B5A6-8906-BA40-E5E3-C0FB407C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 Conditions (While Loop)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8692D1-E092-304A-EC8A-E2744E205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9" y="1568351"/>
            <a:ext cx="11090274" cy="3979625"/>
          </a:xfrm>
        </p:spPr>
        <p:txBody>
          <a:bodyPr/>
          <a:lstStyle/>
          <a:p>
            <a:r>
              <a:rPr lang="en-IN" sz="2400" dirty="0"/>
              <a:t>While Loop : </a:t>
            </a:r>
            <a:r>
              <a:rPr lang="en-US" sz="2400" dirty="0"/>
              <a:t>Continues to execute as long as the condition is true.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07652F-F81D-5C49-D989-BCE8CCB51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62" y="2750780"/>
            <a:ext cx="10816621" cy="288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7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ABF6-90EA-3CFA-BBEA-9C294FB9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Control Statements : break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938A1-1BBE-2EE5-898E-C5E77365D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Break : Exits the loop prematurely.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2FD88-CC33-D2DF-693B-7D5F0297C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569486"/>
            <a:ext cx="114871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5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AB5B-E988-DADD-F43D-8BF8BF1E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40CC-19B3-4197-2C50-3508A720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Control Statements : Continue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8B5B0-BEA9-097F-861A-D6F4EA1CB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Continue : </a:t>
            </a:r>
            <a:r>
              <a:rPr lang="en-US" dirty="0"/>
              <a:t>Skips the current iteration and continues with the next.    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                               									//output :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05C98-4FD1-E4CA-BF8F-3B91D7201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718435"/>
            <a:ext cx="8458071" cy="2258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1D98BE-97DC-DB78-1FCA-122D8569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352" b="5098"/>
          <a:stretch/>
        </p:blipFill>
        <p:spPr>
          <a:xfrm>
            <a:off x="9420629" y="4103011"/>
            <a:ext cx="2309372" cy="258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0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DF67-3FE1-247C-D39D-37C48DC03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567" y="2491852"/>
            <a:ext cx="11074866" cy="267895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Note: Proper indentation is crucial in Python to define the scope of loops and conditionals.</a:t>
            </a:r>
            <a:endParaRPr lang="en-IN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527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7978-506C-FEA1-2FC9-55B304E7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F3A5-F852-8BD6-B487-61BDB8B8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93" y="1595039"/>
            <a:ext cx="11090274" cy="39796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>
                <a:solidFill>
                  <a:schemeClr val="tx1"/>
                </a:solidFill>
              </a:rPr>
              <a:t>What is a Function?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function is a reusable block of code that performs a specific task.​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 help in organizing code, making it more readable and maintainable.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IN" b="1" dirty="0">
                <a:solidFill>
                  <a:schemeClr val="tx1"/>
                </a:solidFill>
              </a:rPr>
              <a:t>Defining a Function : (def)</a:t>
            </a:r>
            <a:endParaRPr lang="en-US" b="1" dirty="0">
              <a:solidFill>
                <a:schemeClr val="tx1"/>
              </a:solidFill>
            </a:endParaRPr>
          </a:p>
          <a:p>
            <a:pPr lvl="8"/>
            <a:r>
              <a:rPr lang="en-US" dirty="0"/>
              <a:t>                         			//Output :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BDA6A-A5B7-0BEF-6CCA-2D7A4083B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157"/>
          <a:stretch/>
        </p:blipFill>
        <p:spPr>
          <a:xfrm>
            <a:off x="752533" y="3783935"/>
            <a:ext cx="5401367" cy="2836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695D7-A689-ABEE-09ED-6D941075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026"/>
          <a:stretch/>
        </p:blipFill>
        <p:spPr>
          <a:xfrm>
            <a:off x="7570182" y="4123331"/>
            <a:ext cx="2230542" cy="15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39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10AB3-B055-9047-6D6E-0D0E97F9B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3767281"/>
            <a:ext cx="7870635" cy="1605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E2AD12-90B7-1FEA-4F63-E9E2ADD3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F087-DD96-3A70-646A-7B8D8468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 are used to store multiple items in a single variable.</a:t>
            </a:r>
          </a:p>
          <a:p>
            <a:r>
              <a:rPr lang="en-US" dirty="0"/>
              <a:t>Lists are one of 4 built-in data types in Python used to store collections of data, the other 3 are Tuple, Set, and Dictionary, all with different qualities and usage.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						          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List items are 									                ordered, 											      changeable, 										      and 										         allow duplicate values.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783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A30D-FE7E-772D-F01D-F36A84EE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0659-B4D7-4637-FF1D-2D5D1576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569B6-4653-6743-E903-502A135A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757599"/>
            <a:ext cx="11090274" cy="397962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Tuple items are ordered, unchangeable, and </a:t>
            </a:r>
            <a:r>
              <a:rPr lang="en-US" b="0" i="0" u="sng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allow duplicate values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						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283B1-5FFC-FD54-4076-B5022EBA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43" y="2677484"/>
            <a:ext cx="11271893" cy="22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52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66FE-E96F-E9FC-91FF-52A9D521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36DB0-1FF9-4E48-924E-B5E8956F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683E-BFD3-6C47-0D1E-42AA3D63F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757599"/>
            <a:ext cx="11090274" cy="397962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Dictionaries are used to store data values in </a:t>
            </a:r>
            <a:r>
              <a:rPr lang="en-US" b="0" i="0" dirty="0" err="1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key:value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pairs.</a:t>
            </a:r>
            <a:endParaRPr lang="en-US" dirty="0"/>
          </a:p>
          <a:p>
            <a:r>
              <a:rPr lang="en-US" dirty="0"/>
              <a:t>                                                             						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.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BCC4D-2B8D-13A5-214A-48DBAEE5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97" y="2856464"/>
            <a:ext cx="8531802" cy="254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1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E526-EA83-B66B-92E9-A673D5ED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89343-FA1B-6794-6846-975A23015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2625" y="1902747"/>
            <a:ext cx="8196947" cy="4955253"/>
          </a:xfrm>
        </p:spPr>
      </p:pic>
    </p:spTree>
    <p:extLst>
      <p:ext uri="{BB962C8B-B14F-4D97-AF65-F5344CB8AC3E}">
        <p14:creationId xmlns:p14="http://schemas.microsoft.com/office/powerpoint/2010/main" val="993123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6DCA-5083-B570-18B4-F0634A70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NumPy Arrays &amp;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9DEA-6810-9CCD-8ECB-CDDD8D79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NumPy?</a:t>
            </a:r>
          </a:p>
          <a:p>
            <a:pPr lvl="1"/>
            <a:r>
              <a:rPr lang="en-US" dirty="0"/>
              <a:t>NumPy (Numerical Python) is a powerful library for numerical computations.</a:t>
            </a:r>
            <a:endParaRPr lang="en-IN" dirty="0"/>
          </a:p>
          <a:p>
            <a:pPr lvl="1"/>
            <a:r>
              <a:rPr lang="en-IN" dirty="0"/>
              <a:t>It provides support for large, multi-dimensional arrays and matrices.</a:t>
            </a:r>
          </a:p>
          <a:p>
            <a:pPr lvl="1"/>
            <a:r>
              <a:rPr lang="en-US" dirty="0"/>
              <a:t>Offers a collection of mathematical functions to operate on these arrays efficiently.</a:t>
            </a:r>
          </a:p>
          <a:p>
            <a:pPr marL="457200" lvl="1" indent="0">
              <a:buNone/>
            </a:pPr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IN" sz="2000" dirty="0"/>
              <a:t>Creating Arrays</a:t>
            </a:r>
          </a:p>
          <a:p>
            <a:pPr marL="228600" lvl="1">
              <a:spcBef>
                <a:spcPts val="1000"/>
              </a:spcBef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93E54-C4B3-B949-6625-1CB530647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330" y="4103011"/>
            <a:ext cx="8537807" cy="227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06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88CA-84F8-458F-CED6-2925DB5A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Array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4CB9-F3B9-7C6E-7E68-3EA65D0EE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Element-wise Operations: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arithmetic operations directly on arrays.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92C75-0E00-E497-D961-D3B2BA74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9" y="3429000"/>
            <a:ext cx="10536702" cy="281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1936-BAE1-5634-E145-41CC70BD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Aggregate Functions: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DA966F-D51D-AE1E-AF07-CBF79E8DE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38" y="1348119"/>
            <a:ext cx="8026718" cy="1890205"/>
          </a:xfrm>
        </p:spPr>
      </p:pic>
    </p:spTree>
    <p:extLst>
      <p:ext uri="{BB962C8B-B14F-4D97-AF65-F5344CB8AC3E}">
        <p14:creationId xmlns:p14="http://schemas.microsoft.com/office/powerpoint/2010/main" val="2734942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A047-F231-F802-3839-3ADB48D7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D988-40CC-C80E-BB51-B1F7CE55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b="1" dirty="0"/>
              <a:t>Interactive Exercise:</a:t>
            </a:r>
            <a:br>
              <a:rPr lang="en-US" dirty="0"/>
            </a:br>
            <a:r>
              <a:rPr lang="en-US" i="1" dirty="0"/>
              <a:t>Given the array below, compute the average value: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DB22DE-D1E2-D7F4-8204-03198825B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64" y="2701633"/>
            <a:ext cx="11090275" cy="2961085"/>
          </a:xfrm>
        </p:spPr>
      </p:pic>
    </p:spTree>
    <p:extLst>
      <p:ext uri="{BB962C8B-B14F-4D97-AF65-F5344CB8AC3E}">
        <p14:creationId xmlns:p14="http://schemas.microsoft.com/office/powerpoint/2010/main" val="4020582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753B-ED18-84A4-8A5D-39B7E418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Indexing, Slicing, and Reshaping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A5E0-D9A4-3FD9-93C0-968E3ABFF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Indexing and Slicing:	</a:t>
            </a:r>
          </a:p>
          <a:p>
            <a:pPr lvl="1"/>
            <a:r>
              <a:rPr lang="en-US" sz="2400" dirty="0"/>
              <a:t>Access specific elements or subsets of an array</a:t>
            </a:r>
            <a:br>
              <a:rPr lang="en-US" sz="2400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02B16-BD28-CBE6-152E-5FF9402E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89" y="3429000"/>
            <a:ext cx="8654422" cy="18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67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4FAF-7E09-FC7F-AF21-EEFCF657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A2B2-A033-6049-BD21-2A0EE914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Indexing, Slicing, and Reshaping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4362-D4C0-C9AA-BFAA-53E87BDE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Reshaping Arrays: 	 		</a:t>
            </a:r>
          </a:p>
          <a:p>
            <a:pPr lvl="1"/>
            <a:r>
              <a:rPr lang="en-US" sz="2400" dirty="0"/>
              <a:t>Change the shape of an array without changing its data.</a:t>
            </a:r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8B2C4-A923-65B7-8604-6089A3618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30" y="3429000"/>
            <a:ext cx="9073140" cy="278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2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AFD51-FFEC-77C4-3794-0E7F6D1E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1435100"/>
            <a:ext cx="5437188" cy="3496214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0"/>
              <a:t>Good Luck for Phase 2! 🚀</a:t>
            </a:r>
            <a:endParaRPr lang="en-IN" sz="8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A6A9-63D7-41C0-9A97-BC499F3D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4" y="1522184"/>
            <a:ext cx="4717471" cy="4570641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3200" dirty="0"/>
              <a:t>	</a:t>
            </a: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Congratulations on Completing Phase 1! </a:t>
            </a:r>
          </a:p>
          <a:p>
            <a:pPr>
              <a:buNone/>
            </a:pPr>
            <a:r>
              <a:rPr lang="en-US" sz="1800" dirty="0"/>
              <a:t>	Your dedication and enthusiasm have been truly commendable.​</a:t>
            </a:r>
          </a:p>
          <a:p>
            <a:r>
              <a:rPr lang="en-US" sz="1800" dirty="0"/>
              <a:t>As you embark on Phase 2, delving into the exciting world of OpenCV, remember:</a:t>
            </a:r>
          </a:p>
          <a:p>
            <a:endParaRPr lang="en-IN" sz="16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3262674-A504-4C90-BBBB-94D20F92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4653" y="4120355"/>
            <a:ext cx="1237347" cy="1972470"/>
          </a:xfrm>
          <a:custGeom>
            <a:avLst/>
            <a:gdLst>
              <a:gd name="connsiteX0" fmla="*/ 986235 w 1237347"/>
              <a:gd name="connsiteY0" fmla="*/ 0 h 1972470"/>
              <a:gd name="connsiteX1" fmla="*/ 1184996 w 1237347"/>
              <a:gd name="connsiteY1" fmla="*/ 20037 h 1972470"/>
              <a:gd name="connsiteX2" fmla="*/ 1237347 w 1237347"/>
              <a:gd name="connsiteY2" fmla="*/ 33498 h 1972470"/>
              <a:gd name="connsiteX3" fmla="*/ 1237347 w 1237347"/>
              <a:gd name="connsiteY3" fmla="*/ 1938973 h 1972470"/>
              <a:gd name="connsiteX4" fmla="*/ 1184996 w 1237347"/>
              <a:gd name="connsiteY4" fmla="*/ 1952433 h 1972470"/>
              <a:gd name="connsiteX5" fmla="*/ 986235 w 1237347"/>
              <a:gd name="connsiteY5" fmla="*/ 1972470 h 1972470"/>
              <a:gd name="connsiteX6" fmla="*/ 0 w 1237347"/>
              <a:gd name="connsiteY6" fmla="*/ 986235 h 1972470"/>
              <a:gd name="connsiteX7" fmla="*/ 986235 w 1237347"/>
              <a:gd name="connsiteY7" fmla="*/ 0 h 197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7347" h="1972470">
                <a:moveTo>
                  <a:pt x="986235" y="0"/>
                </a:moveTo>
                <a:cubicBezTo>
                  <a:pt x="1054320" y="0"/>
                  <a:pt x="1120794" y="6899"/>
                  <a:pt x="1184996" y="20037"/>
                </a:cubicBezTo>
                <a:lnTo>
                  <a:pt x="1237347" y="33498"/>
                </a:lnTo>
                <a:lnTo>
                  <a:pt x="1237347" y="1938973"/>
                </a:lnTo>
                <a:lnTo>
                  <a:pt x="1184996" y="1952433"/>
                </a:lnTo>
                <a:cubicBezTo>
                  <a:pt x="1120794" y="1965571"/>
                  <a:pt x="1054320" y="1972470"/>
                  <a:pt x="986235" y="1972470"/>
                </a:cubicBezTo>
                <a:cubicBezTo>
                  <a:pt x="441552" y="1972470"/>
                  <a:pt x="0" y="1530918"/>
                  <a:pt x="0" y="986235"/>
                </a:cubicBezTo>
                <a:cubicBezTo>
                  <a:pt x="0" y="441552"/>
                  <a:pt x="441552" y="0"/>
                  <a:pt x="98623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508000" dist="76200" dir="15480000">
              <a:schemeClr val="accent1">
                <a:lumMod val="60000"/>
                <a:lumOff val="40000"/>
                <a:alpha val="6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8" name="Picture 4" descr="43,559 Camera Lens Eye Royalty-Free Photos and Stock Images | Shutterstock">
            <a:extLst>
              <a:ext uri="{FF2B5EF4-FFF2-40B4-BE49-F238E27FC236}">
                <a16:creationId xmlns:a16="http://schemas.microsoft.com/office/drawing/2014/main" id="{667AD0D2-F95A-DAFC-4861-11D921B16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099" y="4631751"/>
            <a:ext cx="1979945" cy="196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502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787</Words>
  <Application>Microsoft Office PowerPoint</Application>
  <PresentationFormat>Widescreen</PresentationFormat>
  <Paragraphs>103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Sitka Heading</vt:lpstr>
      <vt:lpstr>Source Sans Pro</vt:lpstr>
      <vt:lpstr>Verdana</vt:lpstr>
      <vt:lpstr>3DFloatVTI</vt:lpstr>
      <vt:lpstr>OpenCV Workshop : Python Basics</vt:lpstr>
      <vt:lpstr>AGENDA : </vt:lpstr>
      <vt:lpstr>What is Python?</vt:lpstr>
      <vt:lpstr>Wrong Slide 💀</vt:lpstr>
      <vt:lpstr>What is Python?</vt:lpstr>
      <vt:lpstr>Python Syntax – The Basics</vt:lpstr>
      <vt:lpstr>Python Syntax – The Basics</vt:lpstr>
      <vt:lpstr> Variables and Assignment</vt:lpstr>
      <vt:lpstr>Seeing Output: Print()</vt:lpstr>
      <vt:lpstr>Python Syntax – Continued</vt:lpstr>
      <vt:lpstr>Getting User Input:       input()</vt:lpstr>
      <vt:lpstr>Conditional Statements if / elif /else </vt:lpstr>
      <vt:lpstr>Looping Conditions (For Loop)</vt:lpstr>
      <vt:lpstr>Looping Conditions (While Loop)</vt:lpstr>
      <vt:lpstr>Loop Control Statements : break</vt:lpstr>
      <vt:lpstr>Loop Control Statements : Continue</vt:lpstr>
      <vt:lpstr>PowerPoint Presentation</vt:lpstr>
      <vt:lpstr>Functions </vt:lpstr>
      <vt:lpstr>Lists </vt:lpstr>
      <vt:lpstr>Tuples </vt:lpstr>
      <vt:lpstr>Dictionaries </vt:lpstr>
      <vt:lpstr>String Operations</vt:lpstr>
      <vt:lpstr>NumPy Arrays &amp; Basic Operations</vt:lpstr>
      <vt:lpstr>Basic Array Operations</vt:lpstr>
      <vt:lpstr>Aggregate Functions:  </vt:lpstr>
      <vt:lpstr>Interactive Exercise: Given the array below, compute the average value:</vt:lpstr>
      <vt:lpstr>Indexing, Slicing, and Reshaping</vt:lpstr>
      <vt:lpstr>Indexing, Slicing, and Reshaping</vt:lpstr>
      <vt:lpstr>Good Luck for Phase 2! 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Shukla</dc:creator>
  <cp:lastModifiedBy>Anshul Shukla</cp:lastModifiedBy>
  <cp:revision>3</cp:revision>
  <dcterms:created xsi:type="dcterms:W3CDTF">2025-04-13T09:47:32Z</dcterms:created>
  <dcterms:modified xsi:type="dcterms:W3CDTF">2025-04-14T11:03:22Z</dcterms:modified>
</cp:coreProperties>
</file>