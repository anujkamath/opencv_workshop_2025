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nva Sans" panose="020B0604020202020204" charset="0"/>
      <p:regular r:id="rId19"/>
    </p:embeddedFont>
    <p:embeddedFont>
      <p:font typeface="Canva Sans Bold" panose="020B0604020202020204" charset="0"/>
      <p:regular r:id="rId20"/>
    </p:embeddedFont>
    <p:embeddedFont>
      <p:font typeface="Glacial Indifference Bold" panose="020B0604020202020204" charset="0"/>
      <p:regular r:id="rId21"/>
    </p:embeddedFont>
    <p:embeddedFont>
      <p:font typeface="HK Grotesk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sp>
        <p:nvSpPr>
          <p:cNvPr id="3" name="TextBox 3"/>
          <p:cNvSpPr txBox="1"/>
          <p:nvPr/>
        </p:nvSpPr>
        <p:spPr>
          <a:xfrm>
            <a:off x="4651632" y="3736946"/>
            <a:ext cx="8984736" cy="2879783"/>
          </a:xfrm>
          <a:prstGeom prst="rect">
            <a:avLst/>
          </a:prstGeom>
        </p:spPr>
        <p:txBody>
          <a:bodyPr lIns="0" tIns="0" rIns="0" bIns="0" rtlCol="0" anchor="t">
            <a:spAutoFit/>
          </a:bodyPr>
          <a:lstStyle/>
          <a:p>
            <a:pPr algn="ctr">
              <a:lnSpc>
                <a:spcPts val="11307"/>
              </a:lnSpc>
            </a:pPr>
            <a:r>
              <a:rPr lang="en-US" sz="10006" b="1">
                <a:solidFill>
                  <a:srgbClr val="FFFFFF"/>
                </a:solidFill>
                <a:latin typeface="Glacial Indifference Bold"/>
                <a:ea typeface="Glacial Indifference Bold"/>
                <a:cs typeface="Glacial Indifference Bold"/>
                <a:sym typeface="Glacial Indifference Bold"/>
              </a:rPr>
              <a:t>OPENCV WORKSHOP</a:t>
            </a:r>
          </a:p>
        </p:txBody>
      </p:sp>
      <p:sp>
        <p:nvSpPr>
          <p:cNvPr id="4" name="TextBox 4"/>
          <p:cNvSpPr txBox="1"/>
          <p:nvPr/>
        </p:nvSpPr>
        <p:spPr>
          <a:xfrm>
            <a:off x="5443716" y="6550054"/>
            <a:ext cx="7400568" cy="580390"/>
          </a:xfrm>
          <a:prstGeom prst="rect">
            <a:avLst/>
          </a:prstGeom>
        </p:spPr>
        <p:txBody>
          <a:bodyPr lIns="0" tIns="0" rIns="0" bIns="0" rtlCol="0" anchor="t">
            <a:spAutoFit/>
          </a:bodyPr>
          <a:lstStyle/>
          <a:p>
            <a:pPr algn="ctr">
              <a:lnSpc>
                <a:spcPts val="4759"/>
              </a:lnSpc>
            </a:pPr>
            <a:r>
              <a:rPr lang="en-US" sz="3399">
                <a:solidFill>
                  <a:srgbClr val="FFFFFF"/>
                </a:solidFill>
                <a:latin typeface="Canva Sans"/>
                <a:ea typeface="Canva Sans"/>
                <a:cs typeface="Canva Sans"/>
                <a:sym typeface="Canva Sans"/>
              </a:rPr>
              <a:t>An introduction to Computer Vision</a:t>
            </a:r>
          </a:p>
        </p:txBody>
      </p:sp>
      <p:sp>
        <p:nvSpPr>
          <p:cNvPr id="5" name="TextBox 4">
            <a:extLst>
              <a:ext uri="{FF2B5EF4-FFF2-40B4-BE49-F238E27FC236}">
                <a16:creationId xmlns:a16="http://schemas.microsoft.com/office/drawing/2014/main" id="{2FE59743-2FDB-8431-3B08-49DB83F6C2D6}"/>
              </a:ext>
            </a:extLst>
          </p:cNvPr>
          <p:cNvSpPr txBox="1"/>
          <p:nvPr/>
        </p:nvSpPr>
        <p:spPr>
          <a:xfrm>
            <a:off x="7620000" y="1181100"/>
            <a:ext cx="2895600" cy="1077218"/>
          </a:xfrm>
          <a:prstGeom prst="rect">
            <a:avLst/>
          </a:prstGeom>
          <a:noFill/>
        </p:spPr>
        <p:txBody>
          <a:bodyPr wrap="square" rtlCol="0">
            <a:spAutoFit/>
          </a:bodyPr>
          <a:lstStyle/>
          <a:p>
            <a:pPr algn="ctr"/>
            <a:r>
              <a:rPr lang="en-US" sz="3200" i="1" dirty="0">
                <a:solidFill>
                  <a:schemeClr val="bg1"/>
                </a:solidFill>
              </a:rPr>
              <a:t>IEMCT &amp; IECSE    presents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7718025" y="537527"/>
            <a:ext cx="2851950"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Agenda</a:t>
            </a:r>
          </a:p>
        </p:txBody>
      </p:sp>
      <p:sp>
        <p:nvSpPr>
          <p:cNvPr id="4" name="TextBox 4"/>
          <p:cNvSpPr txBox="1"/>
          <p:nvPr/>
        </p:nvSpPr>
        <p:spPr>
          <a:xfrm>
            <a:off x="4338336" y="1818481"/>
            <a:ext cx="9611327" cy="5732018"/>
          </a:xfrm>
          <a:prstGeom prst="rect">
            <a:avLst/>
          </a:prstGeom>
        </p:spPr>
        <p:txBody>
          <a:bodyPr lIns="0" tIns="0" rIns="0" bIns="0" rtlCol="0" anchor="t">
            <a:spAutoFit/>
          </a:bodyPr>
          <a:lstStyle/>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What is OpenCV</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Webcam Access</a:t>
            </a:r>
          </a:p>
          <a:p>
            <a:pPr marL="688052" lvl="1" indent="-344026" algn="l">
              <a:lnSpc>
                <a:spcPts val="4461"/>
              </a:lnSpc>
              <a:buFont typeface="Arial"/>
              <a:buChar char="•"/>
            </a:pPr>
            <a:r>
              <a:rPr lang="en-US" sz="3186" dirty="0" err="1">
                <a:solidFill>
                  <a:srgbClr val="FFFFFF"/>
                </a:solidFill>
                <a:latin typeface="Canva Sans"/>
                <a:ea typeface="Canva Sans"/>
                <a:cs typeface="Canva Sans"/>
                <a:sym typeface="Canva Sans"/>
              </a:rPr>
              <a:t>Colour</a:t>
            </a:r>
            <a:r>
              <a:rPr lang="en-US" sz="3186" dirty="0">
                <a:solidFill>
                  <a:srgbClr val="FFFFFF"/>
                </a:solidFill>
                <a:latin typeface="Canva Sans"/>
                <a:ea typeface="Canva Sans"/>
                <a:cs typeface="Canva Sans"/>
                <a:sym typeface="Canva Sans"/>
              </a:rPr>
              <a:t> Channels</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Image Processing Fundamentals</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Understanding the HSV Color Space </a:t>
            </a:r>
          </a:p>
          <a:p>
            <a:pPr marL="688052" lvl="1" indent="-344026" algn="l">
              <a:lnSpc>
                <a:spcPts val="4461"/>
              </a:lnSpc>
              <a:buFont typeface="Arial"/>
              <a:buChar char="•"/>
            </a:pPr>
            <a:r>
              <a:rPr lang="en-US" sz="3186" dirty="0" err="1">
                <a:solidFill>
                  <a:srgbClr val="FFFFFF"/>
                </a:solidFill>
                <a:latin typeface="Canva Sans"/>
                <a:ea typeface="Canva Sans"/>
                <a:cs typeface="Canva Sans"/>
                <a:sym typeface="Canva Sans"/>
              </a:rPr>
              <a:t>Colour</a:t>
            </a:r>
            <a:r>
              <a:rPr lang="en-US" sz="3186" dirty="0">
                <a:solidFill>
                  <a:srgbClr val="FFFFFF"/>
                </a:solidFill>
                <a:latin typeface="Canva Sans"/>
                <a:ea typeface="Canva Sans"/>
                <a:cs typeface="Canva Sans"/>
                <a:sym typeface="Canva Sans"/>
              </a:rPr>
              <a:t> Masking</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Drawing on Images</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Kernels</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Gaussian Blurring</a:t>
            </a:r>
          </a:p>
          <a:p>
            <a:pPr marL="688052" lvl="1" indent="-344026" algn="l">
              <a:lnSpc>
                <a:spcPts val="4461"/>
              </a:lnSpc>
              <a:buFont typeface="Arial"/>
              <a:buChar char="•"/>
            </a:pPr>
            <a:r>
              <a:rPr lang="en-US" sz="3186" dirty="0">
                <a:solidFill>
                  <a:srgbClr val="FFFFFF"/>
                </a:solidFill>
                <a:latin typeface="Canva Sans"/>
                <a:ea typeface="Canva Sans"/>
                <a:cs typeface="Canva Sans"/>
                <a:sym typeface="Canva Sans"/>
              </a:rPr>
              <a:t>Haar Cascades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11043476" y="983211"/>
            <a:ext cx="825762" cy="825762"/>
          </a:xfrm>
          <a:custGeom>
            <a:avLst/>
            <a:gdLst/>
            <a:ahLst/>
            <a:cxnLst/>
            <a:rect l="l" t="t" r="r" b="b"/>
            <a:pathLst>
              <a:path w="825762" h="825762">
                <a:moveTo>
                  <a:pt x="0" y="0"/>
                </a:moveTo>
                <a:lnTo>
                  <a:pt x="825762" y="0"/>
                </a:lnTo>
                <a:lnTo>
                  <a:pt x="825762" y="825762"/>
                </a:lnTo>
                <a:lnTo>
                  <a:pt x="0" y="82576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673787" y="978939"/>
            <a:ext cx="5782570" cy="830034"/>
          </a:xfrm>
          <a:prstGeom prst="rect">
            <a:avLst/>
          </a:prstGeom>
        </p:spPr>
        <p:txBody>
          <a:bodyPr lIns="0" tIns="0" rIns="0" bIns="0" rtlCol="0" anchor="t">
            <a:spAutoFit/>
          </a:bodyPr>
          <a:lstStyle/>
          <a:p>
            <a:pPr algn="ctr">
              <a:lnSpc>
                <a:spcPts val="6750"/>
              </a:lnSpc>
            </a:pPr>
            <a:r>
              <a:rPr lang="en-US" sz="4821" b="1">
                <a:solidFill>
                  <a:srgbClr val="FFFFFF"/>
                </a:solidFill>
                <a:latin typeface="HK Grotesk Bold"/>
                <a:ea typeface="HK Grotesk Bold"/>
                <a:cs typeface="HK Grotesk Bold"/>
                <a:sym typeface="HK Grotesk Bold"/>
              </a:rPr>
              <a:t>What is OpenCV</a:t>
            </a:r>
          </a:p>
        </p:txBody>
      </p:sp>
      <p:sp>
        <p:nvSpPr>
          <p:cNvPr id="5" name="TextBox 5"/>
          <p:cNvSpPr txBox="1"/>
          <p:nvPr/>
        </p:nvSpPr>
        <p:spPr>
          <a:xfrm>
            <a:off x="4338336" y="2570491"/>
            <a:ext cx="9611327" cy="1362994"/>
          </a:xfrm>
          <a:prstGeom prst="rect">
            <a:avLst/>
          </a:prstGeom>
        </p:spPr>
        <p:txBody>
          <a:bodyPr lIns="0" tIns="0" rIns="0" bIns="0" rtlCol="0" anchor="t">
            <a:spAutoFit/>
          </a:bodyPr>
          <a:lstStyle/>
          <a:p>
            <a:pPr algn="ctr">
              <a:lnSpc>
                <a:spcPts val="3624"/>
              </a:lnSpc>
            </a:pPr>
            <a:r>
              <a:rPr lang="en-US" sz="2588">
                <a:solidFill>
                  <a:srgbClr val="FFFFFF"/>
                </a:solidFill>
                <a:latin typeface="Canva Sans"/>
                <a:ea typeface="Canva Sans"/>
                <a:cs typeface="Canva Sans"/>
                <a:sym typeface="Canva Sans"/>
              </a:rPr>
              <a:t>OpenCV (Open Source Computer Vision Library) is an open-source library of programming functions mainly aimed at real-time computer vision.</a:t>
            </a:r>
          </a:p>
        </p:txBody>
      </p:sp>
      <p:sp>
        <p:nvSpPr>
          <p:cNvPr id="6" name="TextBox 6"/>
          <p:cNvSpPr txBox="1"/>
          <p:nvPr/>
        </p:nvSpPr>
        <p:spPr>
          <a:xfrm>
            <a:off x="4338336" y="4649127"/>
            <a:ext cx="9611327" cy="4063318"/>
          </a:xfrm>
          <a:prstGeom prst="rect">
            <a:avLst/>
          </a:prstGeom>
        </p:spPr>
        <p:txBody>
          <a:bodyPr lIns="0" tIns="0" rIns="0" bIns="0" rtlCol="0" anchor="t">
            <a:spAutoFit/>
          </a:bodyPr>
          <a:lstStyle/>
          <a:p>
            <a:pPr marL="510896" lvl="1" indent="-255448" algn="l">
              <a:lnSpc>
                <a:spcPts val="3312"/>
              </a:lnSpc>
              <a:buFont typeface="Arial"/>
              <a:buChar char="•"/>
            </a:pPr>
            <a:r>
              <a:rPr lang="en-US" sz="2366" b="1">
                <a:solidFill>
                  <a:srgbClr val="FFFFFF"/>
                </a:solidFill>
                <a:latin typeface="Canva Sans Bold"/>
                <a:ea typeface="Canva Sans Bold"/>
                <a:cs typeface="Canva Sans Bold"/>
                <a:sym typeface="Canva Sans Bold"/>
              </a:rPr>
              <a:t>Cross-platform</a:t>
            </a:r>
            <a:r>
              <a:rPr lang="en-US" sz="2366">
                <a:solidFill>
                  <a:srgbClr val="FFFFFF"/>
                </a:solidFill>
                <a:latin typeface="Canva Sans"/>
                <a:ea typeface="Canva Sans"/>
                <a:cs typeface="Canva Sans"/>
                <a:sym typeface="Canva Sans"/>
              </a:rPr>
              <a:t>: Works on Windows, Linux, macOS, Android, and iOS</a:t>
            </a:r>
          </a:p>
          <a:p>
            <a:pPr marL="510896" lvl="1" indent="-255448" algn="l">
              <a:lnSpc>
                <a:spcPts val="3312"/>
              </a:lnSpc>
              <a:buFont typeface="Arial"/>
              <a:buChar char="•"/>
            </a:pPr>
            <a:r>
              <a:rPr lang="en-US" sz="2366" b="1">
                <a:solidFill>
                  <a:srgbClr val="FFFFFF"/>
                </a:solidFill>
                <a:latin typeface="Canva Sans Bold"/>
                <a:ea typeface="Canva Sans Bold"/>
                <a:cs typeface="Canva Sans Bold"/>
                <a:sym typeface="Canva Sans Bold"/>
              </a:rPr>
              <a:t>Interfaces</a:t>
            </a:r>
            <a:r>
              <a:rPr lang="en-US" sz="2366">
                <a:solidFill>
                  <a:srgbClr val="FFFFFF"/>
                </a:solidFill>
                <a:latin typeface="Canva Sans"/>
                <a:ea typeface="Canva Sans"/>
                <a:cs typeface="Canva Sans"/>
                <a:sym typeface="Canva Sans"/>
              </a:rPr>
              <a:t>: C++, Python, Java and MATLAB interfaces</a:t>
            </a:r>
          </a:p>
          <a:p>
            <a:pPr marL="510896" lvl="1" indent="-255448" algn="l">
              <a:lnSpc>
                <a:spcPts val="3312"/>
              </a:lnSpc>
              <a:buFont typeface="Arial"/>
              <a:buChar char="•"/>
            </a:pPr>
            <a:r>
              <a:rPr lang="en-US" sz="2366" b="1">
                <a:solidFill>
                  <a:srgbClr val="FFFFFF"/>
                </a:solidFill>
                <a:latin typeface="Canva Sans Bold"/>
                <a:ea typeface="Canva Sans Bold"/>
                <a:cs typeface="Canva Sans Bold"/>
                <a:sym typeface="Canva Sans Bold"/>
              </a:rPr>
              <a:t>GPU Acceleration</a:t>
            </a:r>
            <a:r>
              <a:rPr lang="en-US" sz="2366">
                <a:solidFill>
                  <a:srgbClr val="FFFFFF"/>
                </a:solidFill>
                <a:latin typeface="Canva Sans"/>
                <a:ea typeface="Canva Sans"/>
                <a:cs typeface="Canva Sans"/>
                <a:sym typeface="Canva Sans"/>
              </a:rPr>
              <a:t>: Support for CUDA and OpenCL for hardware acceleration</a:t>
            </a:r>
          </a:p>
          <a:p>
            <a:pPr marL="510896" lvl="1" indent="-255448" algn="l">
              <a:lnSpc>
                <a:spcPts val="3312"/>
              </a:lnSpc>
              <a:buFont typeface="Arial"/>
              <a:buChar char="•"/>
            </a:pPr>
            <a:r>
              <a:rPr lang="en-US" sz="2366" b="1">
                <a:solidFill>
                  <a:srgbClr val="FFFFFF"/>
                </a:solidFill>
                <a:latin typeface="Canva Sans Bold"/>
                <a:ea typeface="Canva Sans Bold"/>
                <a:cs typeface="Canva Sans Bold"/>
                <a:sym typeface="Canva Sans Bold"/>
              </a:rPr>
              <a:t>Comprehensive</a:t>
            </a:r>
            <a:r>
              <a:rPr lang="en-US" sz="2366">
                <a:solidFill>
                  <a:srgbClr val="FFFFFF"/>
                </a:solidFill>
                <a:latin typeface="Canva Sans"/>
                <a:ea typeface="Canva Sans"/>
                <a:cs typeface="Canva Sans"/>
                <a:sym typeface="Canva Sans"/>
              </a:rPr>
              <a:t>: Covers classical and state-of-the-art computer vision algorithms</a:t>
            </a:r>
          </a:p>
          <a:p>
            <a:pPr marL="510896" lvl="1" indent="-255448" algn="l">
              <a:lnSpc>
                <a:spcPts val="3312"/>
              </a:lnSpc>
              <a:buFont typeface="Arial"/>
              <a:buChar char="•"/>
            </a:pPr>
            <a:r>
              <a:rPr lang="en-US" sz="2366" b="1">
                <a:solidFill>
                  <a:srgbClr val="FFFFFF"/>
                </a:solidFill>
                <a:latin typeface="Canva Sans Bold"/>
                <a:ea typeface="Canva Sans Bold"/>
                <a:cs typeface="Canva Sans Bold"/>
                <a:sym typeface="Canva Sans Bold"/>
              </a:rPr>
              <a:t>Active Community</a:t>
            </a:r>
            <a:r>
              <a:rPr lang="en-US" sz="2366">
                <a:solidFill>
                  <a:srgbClr val="FFFFFF"/>
                </a:solidFill>
                <a:latin typeface="Canva Sans"/>
                <a:ea typeface="Canva Sans"/>
                <a:cs typeface="Canva Sans"/>
                <a:sym typeface="Canva Sans"/>
              </a:rPr>
              <a:t>: Regular updates and extensive documentation</a:t>
            </a:r>
          </a:p>
          <a:p>
            <a:pPr algn="ctr">
              <a:lnSpc>
                <a:spcPts val="2362"/>
              </a:lnSpc>
            </a:pPr>
            <a:endParaRPr lang="en-US" sz="2366">
              <a:solidFill>
                <a:srgbClr val="FFFFFF"/>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3623351"/>
            <a:ext cx="9611327" cy="5634949"/>
          </a:xfrm>
          <a:custGeom>
            <a:avLst/>
            <a:gdLst/>
            <a:ahLst/>
            <a:cxnLst/>
            <a:rect l="l" t="t" r="r" b="b"/>
            <a:pathLst>
              <a:path w="9611327" h="5634949">
                <a:moveTo>
                  <a:pt x="0" y="0"/>
                </a:moveTo>
                <a:lnTo>
                  <a:pt x="9611328" y="0"/>
                </a:lnTo>
                <a:lnTo>
                  <a:pt x="9611328" y="5634949"/>
                </a:lnTo>
                <a:lnTo>
                  <a:pt x="0" y="5634949"/>
                </a:lnTo>
                <a:lnTo>
                  <a:pt x="0" y="0"/>
                </a:lnTo>
                <a:close/>
              </a:path>
            </a:pathLst>
          </a:custGeom>
          <a:blipFill>
            <a:blip r:embed="rId3"/>
            <a:stretch>
              <a:fillRect r="-4854"/>
            </a:stretch>
          </a:blipFill>
        </p:spPr>
        <p:txBody>
          <a:bodyPr/>
          <a:lstStyle/>
          <a:p>
            <a:endParaRPr lang="en-US"/>
          </a:p>
        </p:txBody>
      </p:sp>
      <p:sp>
        <p:nvSpPr>
          <p:cNvPr id="4" name="TextBox 4"/>
          <p:cNvSpPr txBox="1"/>
          <p:nvPr/>
        </p:nvSpPr>
        <p:spPr>
          <a:xfrm>
            <a:off x="4338336" y="933450"/>
            <a:ext cx="9611327" cy="830034"/>
          </a:xfrm>
          <a:prstGeom prst="rect">
            <a:avLst/>
          </a:prstGeom>
        </p:spPr>
        <p:txBody>
          <a:bodyPr lIns="0" tIns="0" rIns="0" bIns="0" rtlCol="0" anchor="t">
            <a:spAutoFit/>
          </a:bodyPr>
          <a:lstStyle/>
          <a:p>
            <a:pPr algn="ctr">
              <a:lnSpc>
                <a:spcPts val="6750"/>
              </a:lnSpc>
            </a:pPr>
            <a:r>
              <a:rPr lang="en-US" sz="4821" b="1">
                <a:solidFill>
                  <a:srgbClr val="FFFFFF"/>
                </a:solidFill>
                <a:latin typeface="HK Grotesk Bold"/>
                <a:ea typeface="HK Grotesk Bold"/>
                <a:cs typeface="HK Grotesk Bold"/>
                <a:sym typeface="HK Grotesk Bold"/>
              </a:rPr>
              <a:t>Webcam Access</a:t>
            </a:r>
          </a:p>
        </p:txBody>
      </p:sp>
      <p:sp>
        <p:nvSpPr>
          <p:cNvPr id="5" name="TextBox 5"/>
          <p:cNvSpPr txBox="1"/>
          <p:nvPr/>
        </p:nvSpPr>
        <p:spPr>
          <a:xfrm>
            <a:off x="4338336" y="2321744"/>
            <a:ext cx="9611327" cy="1028913"/>
          </a:xfrm>
          <a:prstGeom prst="rect">
            <a:avLst/>
          </a:prstGeom>
        </p:spPr>
        <p:txBody>
          <a:bodyPr lIns="0" tIns="0" rIns="0" bIns="0" rtlCol="0" anchor="t">
            <a:spAutoFit/>
          </a:bodyPr>
          <a:lstStyle/>
          <a:p>
            <a:pPr algn="ctr">
              <a:lnSpc>
                <a:spcPts val="4188"/>
              </a:lnSpc>
            </a:pPr>
            <a:r>
              <a:rPr lang="en-US" sz="2991">
                <a:solidFill>
                  <a:srgbClr val="FFFFFF"/>
                </a:solidFill>
                <a:latin typeface="Canva Sans"/>
                <a:ea typeface="Canva Sans"/>
                <a:cs typeface="Canva Sans"/>
                <a:sym typeface="Canva Sans"/>
              </a:rPr>
              <a:t>Implement the code below to display a webcam feed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471106" y="933450"/>
            <a:ext cx="5345787"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Colour Channels</a:t>
            </a:r>
          </a:p>
        </p:txBody>
      </p:sp>
      <p:sp>
        <p:nvSpPr>
          <p:cNvPr id="4" name="TextBox 4"/>
          <p:cNvSpPr txBox="1"/>
          <p:nvPr/>
        </p:nvSpPr>
        <p:spPr>
          <a:xfrm>
            <a:off x="4338336" y="2317888"/>
            <a:ext cx="9611327" cy="4098290"/>
          </a:xfrm>
          <a:prstGeom prst="rect">
            <a:avLst/>
          </a:prstGeom>
        </p:spPr>
        <p:txBody>
          <a:bodyPr lIns="0" tIns="0" rIns="0" bIns="0" rtlCol="0" anchor="t">
            <a:spAutoFit/>
          </a:bodyPr>
          <a:lstStyle/>
          <a:p>
            <a:pPr algn="ctr">
              <a:lnSpc>
                <a:spcPts val="4060"/>
              </a:lnSpc>
            </a:pPr>
            <a:r>
              <a:rPr lang="en-US" sz="2900">
                <a:solidFill>
                  <a:srgbClr val="FFFFFF"/>
                </a:solidFill>
                <a:latin typeface="Canva Sans"/>
                <a:ea typeface="Canva Sans"/>
                <a:cs typeface="Canva Sans"/>
                <a:sym typeface="Canva Sans"/>
              </a:rPr>
              <a:t> In OpenCV, images are typically processed in the BGR color space, which splits an image into three channels: Blue, Green, and Red. Each channel is an 8-bit grayscale image with values ranging from 0 to 255, capturing the strength of that color.</a:t>
            </a:r>
          </a:p>
          <a:p>
            <a:pPr algn="ctr">
              <a:lnSpc>
                <a:spcPts val="4060"/>
              </a:lnSpc>
            </a:pPr>
            <a:endParaRPr lang="en-US" sz="2900">
              <a:solidFill>
                <a:srgbClr val="FFFFFF"/>
              </a:solidFill>
              <a:latin typeface="Canva Sans"/>
              <a:ea typeface="Canva Sans"/>
              <a:cs typeface="Canva Sans"/>
              <a:sym typeface="Canva Sans"/>
            </a:endParaRPr>
          </a:p>
          <a:p>
            <a:pPr algn="ctr">
              <a:lnSpc>
                <a:spcPts val="4060"/>
              </a:lnSpc>
            </a:pPr>
            <a:r>
              <a:rPr lang="en-US" sz="2900">
                <a:solidFill>
                  <a:srgbClr val="FFFFFF"/>
                </a:solidFill>
                <a:latin typeface="Canva Sans"/>
                <a:ea typeface="Canva Sans"/>
                <a:cs typeface="Canva Sans"/>
                <a:sym typeface="Canva Sans"/>
              </a:rPr>
              <a:t>This image can be converted to different formats like RGB, HSV, GRAYSCALE and so 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182076" y="2874580"/>
            <a:ext cx="9611327" cy="2745888"/>
          </a:xfrm>
          <a:custGeom>
            <a:avLst/>
            <a:gdLst/>
            <a:ahLst/>
            <a:cxnLst/>
            <a:rect l="l" t="t" r="r" b="b"/>
            <a:pathLst>
              <a:path w="9611327" h="2745888">
                <a:moveTo>
                  <a:pt x="0" y="0"/>
                </a:moveTo>
                <a:lnTo>
                  <a:pt x="9611327" y="0"/>
                </a:lnTo>
                <a:lnTo>
                  <a:pt x="9611327" y="2745888"/>
                </a:lnTo>
                <a:lnTo>
                  <a:pt x="0" y="2745888"/>
                </a:lnTo>
                <a:lnTo>
                  <a:pt x="0" y="0"/>
                </a:lnTo>
                <a:close/>
              </a:path>
            </a:pathLst>
          </a:custGeom>
          <a:blipFill>
            <a:blip r:embed="rId3"/>
            <a:stretch>
              <a:fillRect t="-1199" b="-1199"/>
            </a:stretch>
          </a:blipFill>
        </p:spPr>
        <p:txBody>
          <a:bodyPr/>
          <a:lstStyle/>
          <a:p>
            <a:endParaRPr lang="en-US"/>
          </a:p>
        </p:txBody>
      </p:sp>
      <p:sp>
        <p:nvSpPr>
          <p:cNvPr id="4" name="Freeform 4"/>
          <p:cNvSpPr/>
          <p:nvPr/>
        </p:nvSpPr>
        <p:spPr>
          <a:xfrm>
            <a:off x="5855627" y="6818549"/>
            <a:ext cx="6576747" cy="1971166"/>
          </a:xfrm>
          <a:custGeom>
            <a:avLst/>
            <a:gdLst/>
            <a:ahLst/>
            <a:cxnLst/>
            <a:rect l="l" t="t" r="r" b="b"/>
            <a:pathLst>
              <a:path w="6576747" h="1971166">
                <a:moveTo>
                  <a:pt x="0" y="0"/>
                </a:moveTo>
                <a:lnTo>
                  <a:pt x="6576746" y="0"/>
                </a:lnTo>
                <a:lnTo>
                  <a:pt x="6576746" y="1971167"/>
                </a:lnTo>
                <a:lnTo>
                  <a:pt x="0" y="1971167"/>
                </a:lnTo>
                <a:lnTo>
                  <a:pt x="0" y="0"/>
                </a:lnTo>
                <a:close/>
              </a:path>
            </a:pathLst>
          </a:custGeom>
          <a:blipFill>
            <a:blip r:embed="rId4"/>
            <a:stretch>
              <a:fillRect l="-681" r="-1355" b="-3513"/>
            </a:stretch>
          </a:blipFill>
        </p:spPr>
        <p:txBody>
          <a:bodyPr/>
          <a:lstStyle/>
          <a:p>
            <a:endParaRPr lang="en-US"/>
          </a:p>
        </p:txBody>
      </p:sp>
      <p:sp>
        <p:nvSpPr>
          <p:cNvPr id="5" name="TextBox 5"/>
          <p:cNvSpPr txBox="1"/>
          <p:nvPr/>
        </p:nvSpPr>
        <p:spPr>
          <a:xfrm>
            <a:off x="4338336" y="933450"/>
            <a:ext cx="9611327" cy="830034"/>
          </a:xfrm>
          <a:prstGeom prst="rect">
            <a:avLst/>
          </a:prstGeom>
        </p:spPr>
        <p:txBody>
          <a:bodyPr lIns="0" tIns="0" rIns="0" bIns="0" rtlCol="0" anchor="t">
            <a:spAutoFit/>
          </a:bodyPr>
          <a:lstStyle/>
          <a:p>
            <a:pPr algn="ctr">
              <a:lnSpc>
                <a:spcPts val="6750"/>
              </a:lnSpc>
            </a:pPr>
            <a:r>
              <a:rPr lang="en-US" sz="4821" b="1">
                <a:solidFill>
                  <a:srgbClr val="FFFFFF"/>
                </a:solidFill>
                <a:latin typeface="HK Grotesk Bold"/>
                <a:ea typeface="HK Grotesk Bold"/>
                <a:cs typeface="HK Grotesk Bold"/>
                <a:sym typeface="HK Grotesk Bold"/>
              </a:rPr>
              <a:t>Image Processing Fundamentals</a:t>
            </a:r>
          </a:p>
        </p:txBody>
      </p:sp>
      <p:sp>
        <p:nvSpPr>
          <p:cNvPr id="6" name="TextBox 6"/>
          <p:cNvSpPr txBox="1"/>
          <p:nvPr/>
        </p:nvSpPr>
        <p:spPr>
          <a:xfrm>
            <a:off x="5008311" y="2052737"/>
            <a:ext cx="8271377" cy="478943"/>
          </a:xfrm>
          <a:prstGeom prst="rect">
            <a:avLst/>
          </a:prstGeom>
        </p:spPr>
        <p:txBody>
          <a:bodyPr lIns="0" tIns="0" rIns="0" bIns="0" rtlCol="0" anchor="t">
            <a:spAutoFit/>
          </a:bodyPr>
          <a:lstStyle/>
          <a:p>
            <a:pPr algn="ctr">
              <a:lnSpc>
                <a:spcPts val="3908"/>
              </a:lnSpc>
            </a:pPr>
            <a:r>
              <a:rPr lang="en-US" sz="2791">
                <a:solidFill>
                  <a:srgbClr val="FFFFFF"/>
                </a:solidFill>
                <a:latin typeface="Canva Sans"/>
                <a:ea typeface="Canva Sans"/>
                <a:cs typeface="Canva Sans"/>
                <a:sym typeface="Canva Sans"/>
              </a:rPr>
              <a:t>Image Loading, Display, and Saving</a:t>
            </a:r>
          </a:p>
        </p:txBody>
      </p:sp>
      <p:sp>
        <p:nvSpPr>
          <p:cNvPr id="7" name="TextBox 7"/>
          <p:cNvSpPr txBox="1"/>
          <p:nvPr/>
        </p:nvSpPr>
        <p:spPr>
          <a:xfrm>
            <a:off x="6515641" y="5949081"/>
            <a:ext cx="4944198" cy="478943"/>
          </a:xfrm>
          <a:prstGeom prst="rect">
            <a:avLst/>
          </a:prstGeom>
        </p:spPr>
        <p:txBody>
          <a:bodyPr lIns="0" tIns="0" rIns="0" bIns="0" rtlCol="0" anchor="t">
            <a:spAutoFit/>
          </a:bodyPr>
          <a:lstStyle/>
          <a:p>
            <a:pPr algn="ctr">
              <a:lnSpc>
                <a:spcPts val="3908"/>
              </a:lnSpc>
            </a:pPr>
            <a:r>
              <a:rPr lang="en-US" sz="2791">
                <a:solidFill>
                  <a:srgbClr val="FFFFFF"/>
                </a:solidFill>
                <a:latin typeface="Canva Sans"/>
                <a:ea typeface="Canva Sans"/>
                <a:cs typeface="Canva Sans"/>
                <a:sym typeface="Canva Sans"/>
              </a:rPr>
              <a:t>Colour conversions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048000" y="528291"/>
            <a:ext cx="12344400" cy="867747"/>
          </a:xfrm>
          <a:prstGeom prst="rect">
            <a:avLst/>
          </a:prstGeom>
        </p:spPr>
        <p:txBody>
          <a:bodyPr wrap="square" lIns="0" tIns="0" rIns="0" bIns="0" rtlCol="0" anchor="t">
            <a:spAutoFit/>
          </a:bodyPr>
          <a:lstStyle/>
          <a:p>
            <a:pPr algn="ctr">
              <a:lnSpc>
                <a:spcPts val="7014"/>
              </a:lnSpc>
            </a:pPr>
            <a:r>
              <a:rPr lang="en-US" sz="5010" b="1" dirty="0">
                <a:solidFill>
                  <a:srgbClr val="FFFFFF"/>
                </a:solidFill>
                <a:latin typeface="Canva Sans Bold"/>
                <a:ea typeface="Canva Sans Bold"/>
                <a:cs typeface="Canva Sans Bold"/>
                <a:sym typeface="Canva Sans Bold"/>
              </a:rPr>
              <a:t>Understanding the HSV Color Space</a:t>
            </a:r>
          </a:p>
        </p:txBody>
      </p:sp>
      <p:sp>
        <p:nvSpPr>
          <p:cNvPr id="4" name="TextBox 4"/>
          <p:cNvSpPr txBox="1"/>
          <p:nvPr/>
        </p:nvSpPr>
        <p:spPr>
          <a:xfrm>
            <a:off x="4338336" y="2037080"/>
            <a:ext cx="9611327" cy="6155690"/>
          </a:xfrm>
          <a:prstGeom prst="rect">
            <a:avLst/>
          </a:prstGeom>
        </p:spPr>
        <p:txBody>
          <a:bodyPr lIns="0" tIns="0" rIns="0" bIns="0" rtlCol="0" anchor="t">
            <a:spAutoFit/>
          </a:bodyPr>
          <a:lstStyle/>
          <a:p>
            <a:pPr algn="ctr">
              <a:lnSpc>
                <a:spcPts val="4060"/>
              </a:lnSpc>
              <a:spcBef>
                <a:spcPct val="0"/>
              </a:spcBef>
            </a:pPr>
            <a:r>
              <a:rPr lang="en-US" sz="2900" dirty="0">
                <a:solidFill>
                  <a:srgbClr val="FFFFFF"/>
                </a:solidFill>
                <a:latin typeface="Canva Sans"/>
                <a:ea typeface="Canva Sans"/>
                <a:cs typeface="Canva Sans"/>
                <a:sym typeface="Canva Sans"/>
              </a:rPr>
              <a:t>Unlike BGR, which defines colors by combining red, green, and blue intensities, HSV aligns more closely with how humans perceive colors. </a:t>
            </a:r>
          </a:p>
          <a:p>
            <a:pPr algn="ctr">
              <a:lnSpc>
                <a:spcPts val="4060"/>
              </a:lnSpc>
              <a:spcBef>
                <a:spcPct val="0"/>
              </a:spcBef>
            </a:pPr>
            <a:endParaRPr lang="en-US" sz="2900" dirty="0">
              <a:solidFill>
                <a:srgbClr val="FFFFFF"/>
              </a:solidFill>
              <a:latin typeface="Canva Sans"/>
              <a:ea typeface="Canva Sans"/>
              <a:cs typeface="Canva Sans"/>
              <a:sym typeface="Canva Sans"/>
            </a:endParaRPr>
          </a:p>
          <a:p>
            <a:pPr algn="ctr">
              <a:lnSpc>
                <a:spcPts val="4060"/>
              </a:lnSpc>
              <a:spcBef>
                <a:spcPct val="0"/>
              </a:spcBef>
            </a:pPr>
            <a:r>
              <a:rPr lang="en-US" sz="2900" b="1" dirty="0">
                <a:solidFill>
                  <a:srgbClr val="FFFFFF"/>
                </a:solidFill>
                <a:latin typeface="Canva Sans Bold"/>
                <a:ea typeface="Canva Sans Bold"/>
                <a:cs typeface="Canva Sans Bold"/>
                <a:sym typeface="Canva Sans Bold"/>
              </a:rPr>
              <a:t>Hue</a:t>
            </a:r>
            <a:r>
              <a:rPr lang="en-US" sz="2900" dirty="0">
                <a:solidFill>
                  <a:srgbClr val="FFFFFF"/>
                </a:solidFill>
                <a:latin typeface="Canva Sans"/>
                <a:ea typeface="Canva Sans"/>
                <a:cs typeface="Canva Sans"/>
                <a:sym typeface="Canva Sans"/>
              </a:rPr>
              <a:t> determines the color type, like red or blue, represented as an angle (0–180 in OpenCV’s 8-bit scale). </a:t>
            </a:r>
            <a:r>
              <a:rPr lang="en-US" sz="2900" b="1" dirty="0">
                <a:solidFill>
                  <a:srgbClr val="FFFFFF"/>
                </a:solidFill>
                <a:latin typeface="Canva Sans Bold"/>
                <a:ea typeface="Canva Sans Bold"/>
                <a:cs typeface="Canva Sans Bold"/>
                <a:sym typeface="Canva Sans Bold"/>
              </a:rPr>
              <a:t>Saturation</a:t>
            </a:r>
            <a:r>
              <a:rPr lang="en-US" sz="2900" dirty="0">
                <a:solidFill>
                  <a:srgbClr val="FFFFFF"/>
                </a:solidFill>
                <a:latin typeface="Canva Sans"/>
                <a:ea typeface="Canva Sans"/>
                <a:cs typeface="Canva Sans"/>
                <a:sym typeface="Canva Sans"/>
              </a:rPr>
              <a:t> measures the color’s intensity or purity, from gray (0) to vivid (255). </a:t>
            </a:r>
            <a:r>
              <a:rPr lang="en-US" sz="2900" b="1" dirty="0">
                <a:solidFill>
                  <a:srgbClr val="FFFFFF"/>
                </a:solidFill>
                <a:latin typeface="Canva Sans Bold"/>
                <a:ea typeface="Canva Sans Bold"/>
                <a:cs typeface="Canva Sans Bold"/>
                <a:sym typeface="Canva Sans Bold"/>
              </a:rPr>
              <a:t>Value</a:t>
            </a:r>
            <a:r>
              <a:rPr lang="en-US" sz="2900" dirty="0">
                <a:solidFill>
                  <a:srgbClr val="FFFFFF"/>
                </a:solidFill>
                <a:latin typeface="Canva Sans"/>
                <a:ea typeface="Canva Sans"/>
                <a:cs typeface="Canva Sans"/>
                <a:sym typeface="Canva Sans"/>
              </a:rPr>
              <a:t> indicates brightness, ranging from black (0) to fully bright (255). </a:t>
            </a:r>
          </a:p>
          <a:p>
            <a:pPr algn="ctr">
              <a:lnSpc>
                <a:spcPts val="4060"/>
              </a:lnSpc>
              <a:spcBef>
                <a:spcPct val="0"/>
              </a:spcBef>
            </a:pPr>
            <a:endParaRPr lang="en-US" sz="2900" dirty="0">
              <a:solidFill>
                <a:srgbClr val="FFFFFF"/>
              </a:solidFill>
              <a:latin typeface="Canva Sans"/>
              <a:ea typeface="Canva Sans"/>
              <a:cs typeface="Canva Sans"/>
              <a:sym typeface="Canva Sans"/>
            </a:endParaRPr>
          </a:p>
          <a:p>
            <a:pPr algn="ctr">
              <a:lnSpc>
                <a:spcPts val="4060"/>
              </a:lnSpc>
              <a:spcBef>
                <a:spcPct val="0"/>
              </a:spcBef>
            </a:pPr>
            <a:r>
              <a:rPr lang="en-US" sz="2900" dirty="0">
                <a:solidFill>
                  <a:srgbClr val="FFFFFF"/>
                </a:solidFill>
                <a:latin typeface="Canva Sans"/>
                <a:ea typeface="Canva Sans"/>
                <a:cs typeface="Canva Sans"/>
                <a:sym typeface="Canva Sans"/>
              </a:rPr>
              <a:t>This separation makes HSV ideal for tasks where color needs to be isolated from lighting conditions.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1585138"/>
            <a:ext cx="9501192" cy="7116723"/>
          </a:xfrm>
          <a:custGeom>
            <a:avLst/>
            <a:gdLst/>
            <a:ahLst/>
            <a:cxnLst/>
            <a:rect l="l" t="t" r="r" b="b"/>
            <a:pathLst>
              <a:path w="9501192" h="7116723">
                <a:moveTo>
                  <a:pt x="0" y="0"/>
                </a:moveTo>
                <a:lnTo>
                  <a:pt x="9501193" y="0"/>
                </a:lnTo>
                <a:lnTo>
                  <a:pt x="9501193" y="7116724"/>
                </a:lnTo>
                <a:lnTo>
                  <a:pt x="0" y="711672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3273956"/>
            <a:ext cx="9611327" cy="13560956"/>
          </a:xfrm>
          <a:custGeom>
            <a:avLst/>
            <a:gdLst/>
            <a:ahLst/>
            <a:cxnLst/>
            <a:rect l="l" t="t" r="r" b="b"/>
            <a:pathLst>
              <a:path w="9611327" h="13560956">
                <a:moveTo>
                  <a:pt x="0" y="0"/>
                </a:moveTo>
                <a:lnTo>
                  <a:pt x="9611328" y="0"/>
                </a:lnTo>
                <a:lnTo>
                  <a:pt x="9611328" y="13560956"/>
                </a:lnTo>
                <a:lnTo>
                  <a:pt x="0" y="13560956"/>
                </a:lnTo>
                <a:lnTo>
                  <a:pt x="0" y="0"/>
                </a:lnTo>
                <a:close/>
              </a:path>
            </a:pathLst>
          </a:custGeom>
          <a:blipFill>
            <a:blip r:embed="rId3"/>
            <a:stretch>
              <a:fillRect/>
            </a:stretch>
          </a:blipFill>
        </p:spPr>
        <p:txBody>
          <a:bodyPr/>
          <a:lstStyle/>
          <a:p>
            <a:endParaRPr lang="en-US"/>
          </a:p>
        </p:txBody>
      </p:sp>
      <p:sp>
        <p:nvSpPr>
          <p:cNvPr id="4" name="Freeform 4"/>
          <p:cNvSpPr/>
          <p:nvPr/>
        </p:nvSpPr>
        <p:spPr>
          <a:xfrm>
            <a:off x="1028700" y="0"/>
            <a:ext cx="16343324" cy="10287000"/>
          </a:xfrm>
          <a:custGeom>
            <a:avLst/>
            <a:gdLst/>
            <a:ahLst/>
            <a:cxnLst/>
            <a:rect l="l" t="t" r="r" b="b"/>
            <a:pathLst>
              <a:path w="16343324" h="10287000">
                <a:moveTo>
                  <a:pt x="0" y="0"/>
                </a:moveTo>
                <a:lnTo>
                  <a:pt x="16343324" y="0"/>
                </a:lnTo>
                <a:lnTo>
                  <a:pt x="16343324" y="10287000"/>
                </a:lnTo>
                <a:lnTo>
                  <a:pt x="0" y="10287000"/>
                </a:lnTo>
                <a:lnTo>
                  <a:pt x="0" y="0"/>
                </a:lnTo>
                <a:close/>
              </a:path>
            </a:pathLst>
          </a:custGeom>
          <a:blipFill>
            <a:blip r:embed="rId4"/>
            <a:stretch>
              <a:fillRect l="-1709" r="-759" b="-2764"/>
            </a:stretch>
          </a:blipFill>
        </p:spPr>
        <p:txBody>
          <a:bodyPr/>
          <a:lstStyle/>
          <a:p>
            <a:endParaRPr lang="en-US"/>
          </a:p>
        </p:txBody>
      </p:sp>
      <p:sp>
        <p:nvSpPr>
          <p:cNvPr id="5" name="TextBox 5"/>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6" name="TextBox 6"/>
          <p:cNvSpPr txBox="1"/>
          <p:nvPr/>
        </p:nvSpPr>
        <p:spPr>
          <a:xfrm>
            <a:off x="645284" y="490855"/>
            <a:ext cx="2256870" cy="537845"/>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RGB</a:t>
            </a:r>
          </a:p>
        </p:txBody>
      </p:sp>
      <p:sp>
        <p:nvSpPr>
          <p:cNvPr id="7" name="TextBox 7"/>
          <p:cNvSpPr txBox="1"/>
          <p:nvPr/>
        </p:nvSpPr>
        <p:spPr>
          <a:xfrm>
            <a:off x="645284" y="5762793"/>
            <a:ext cx="2256870" cy="537845"/>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BGR</a:t>
            </a:r>
          </a:p>
        </p:txBody>
      </p:sp>
      <p:sp>
        <p:nvSpPr>
          <p:cNvPr id="8" name="TextBox 8"/>
          <p:cNvSpPr txBox="1"/>
          <p:nvPr/>
        </p:nvSpPr>
        <p:spPr>
          <a:xfrm>
            <a:off x="9139238" y="490855"/>
            <a:ext cx="2491260" cy="537845"/>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GRAYSCALE</a:t>
            </a:r>
          </a:p>
        </p:txBody>
      </p:sp>
      <p:sp>
        <p:nvSpPr>
          <p:cNvPr id="9" name="TextBox 9"/>
          <p:cNvSpPr txBox="1"/>
          <p:nvPr/>
        </p:nvSpPr>
        <p:spPr>
          <a:xfrm>
            <a:off x="8949267" y="5762793"/>
            <a:ext cx="2256870" cy="537845"/>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HSV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3574" y="4562222"/>
            <a:ext cx="9611327" cy="5724778"/>
          </a:xfrm>
          <a:custGeom>
            <a:avLst/>
            <a:gdLst/>
            <a:ahLst/>
            <a:cxnLst/>
            <a:rect l="l" t="t" r="r" b="b"/>
            <a:pathLst>
              <a:path w="9611327" h="5724778">
                <a:moveTo>
                  <a:pt x="0" y="0"/>
                </a:moveTo>
                <a:lnTo>
                  <a:pt x="9611327" y="0"/>
                </a:lnTo>
                <a:lnTo>
                  <a:pt x="9611327" y="5724778"/>
                </a:lnTo>
                <a:lnTo>
                  <a:pt x="0" y="5724778"/>
                </a:lnTo>
                <a:lnTo>
                  <a:pt x="0" y="0"/>
                </a:lnTo>
                <a:close/>
              </a:path>
            </a:pathLst>
          </a:custGeom>
          <a:blipFill>
            <a:blip r:embed="rId3"/>
            <a:stretch>
              <a:fillRect t="-849" b="-5550"/>
            </a:stretch>
          </a:blipFill>
        </p:spPr>
        <p:txBody>
          <a:bodyPr/>
          <a:lstStyle/>
          <a:p>
            <a:endParaRPr lang="en-US"/>
          </a:p>
        </p:txBody>
      </p:sp>
      <p:sp>
        <p:nvSpPr>
          <p:cNvPr id="4" name="TextBox 4"/>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5" name="TextBox 5"/>
          <p:cNvSpPr txBox="1"/>
          <p:nvPr/>
        </p:nvSpPr>
        <p:spPr>
          <a:xfrm>
            <a:off x="5984322" y="537527"/>
            <a:ext cx="6309831"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Colour Masking</a:t>
            </a:r>
          </a:p>
        </p:txBody>
      </p:sp>
      <p:sp>
        <p:nvSpPr>
          <p:cNvPr id="6" name="TextBox 6"/>
          <p:cNvSpPr txBox="1"/>
          <p:nvPr/>
        </p:nvSpPr>
        <p:spPr>
          <a:xfrm>
            <a:off x="4333574" y="1709190"/>
            <a:ext cx="9611327" cy="2520839"/>
          </a:xfrm>
          <a:prstGeom prst="rect">
            <a:avLst/>
          </a:prstGeom>
        </p:spPr>
        <p:txBody>
          <a:bodyPr lIns="0" tIns="0" rIns="0" bIns="0" rtlCol="0" anchor="t">
            <a:spAutoFit/>
          </a:bodyPr>
          <a:lstStyle/>
          <a:p>
            <a:pPr algn="ctr">
              <a:lnSpc>
                <a:spcPts val="3333"/>
              </a:lnSpc>
            </a:pPr>
            <a:r>
              <a:rPr lang="en-US" sz="2380">
                <a:solidFill>
                  <a:srgbClr val="FFFFFF"/>
                </a:solidFill>
                <a:latin typeface="Canva Sans"/>
                <a:ea typeface="Canva Sans"/>
                <a:cs typeface="Canva Sans"/>
                <a:sym typeface="Canva Sans"/>
              </a:rPr>
              <a:t>Color masking in OpenCV involves isolating specific color ranges within an image. This technique is useful for object detection, image segmentation, and selective image manipulation. It relies on defining upper and lower color boundaries, typically in the HSV color space, and creating a binary mask where pixels within the defined range are white and others are black.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1820545"/>
            <a:ext cx="9611327" cy="8013444"/>
          </a:xfrm>
          <a:custGeom>
            <a:avLst/>
            <a:gdLst/>
            <a:ahLst/>
            <a:cxnLst/>
            <a:rect l="l" t="t" r="r" b="b"/>
            <a:pathLst>
              <a:path w="9611327" h="8013444">
                <a:moveTo>
                  <a:pt x="0" y="0"/>
                </a:moveTo>
                <a:lnTo>
                  <a:pt x="9611328" y="0"/>
                </a:lnTo>
                <a:lnTo>
                  <a:pt x="9611328" y="8013444"/>
                </a:lnTo>
                <a:lnTo>
                  <a:pt x="0" y="8013444"/>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4338336" y="4669326"/>
            <a:ext cx="7494859" cy="474174"/>
            <a:chOff x="0" y="0"/>
            <a:chExt cx="1973955" cy="124885"/>
          </a:xfrm>
        </p:grpSpPr>
        <p:sp>
          <p:nvSpPr>
            <p:cNvPr id="5" name="Freeform 5"/>
            <p:cNvSpPr/>
            <p:nvPr/>
          </p:nvSpPr>
          <p:spPr>
            <a:xfrm>
              <a:off x="0" y="0"/>
              <a:ext cx="1973955" cy="124885"/>
            </a:xfrm>
            <a:custGeom>
              <a:avLst/>
              <a:gdLst/>
              <a:ahLst/>
              <a:cxnLst/>
              <a:rect l="l" t="t" r="r" b="b"/>
              <a:pathLst>
                <a:path w="1973955" h="124885">
                  <a:moveTo>
                    <a:pt x="0" y="0"/>
                  </a:moveTo>
                  <a:lnTo>
                    <a:pt x="1973955" y="0"/>
                  </a:lnTo>
                  <a:lnTo>
                    <a:pt x="1973955" y="124885"/>
                  </a:lnTo>
                  <a:lnTo>
                    <a:pt x="0" y="124885"/>
                  </a:lnTo>
                  <a:close/>
                </a:path>
              </a:pathLst>
            </a:custGeom>
            <a:solidFill>
              <a:srgbClr val="000000"/>
            </a:solidFill>
          </p:spPr>
          <p:txBody>
            <a:bodyPr/>
            <a:lstStyle/>
            <a:p>
              <a:endParaRPr lang="en-US"/>
            </a:p>
          </p:txBody>
        </p:sp>
        <p:sp>
          <p:nvSpPr>
            <p:cNvPr id="6" name="TextBox 6"/>
            <p:cNvSpPr txBox="1"/>
            <p:nvPr/>
          </p:nvSpPr>
          <p:spPr>
            <a:xfrm>
              <a:off x="0" y="-38100"/>
              <a:ext cx="1973955" cy="162985"/>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5257800" y="537527"/>
            <a:ext cx="7620001"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Drawing on Images</a:t>
            </a:r>
          </a:p>
        </p:txBody>
      </p:sp>
      <p:grpSp>
        <p:nvGrpSpPr>
          <p:cNvPr id="8" name="Group 8"/>
          <p:cNvGrpSpPr/>
          <p:nvPr/>
        </p:nvGrpSpPr>
        <p:grpSpPr>
          <a:xfrm>
            <a:off x="11593737" y="4669326"/>
            <a:ext cx="364876" cy="5436130"/>
            <a:chOff x="0" y="0"/>
            <a:chExt cx="96099" cy="1431738"/>
          </a:xfrm>
        </p:grpSpPr>
        <p:sp>
          <p:nvSpPr>
            <p:cNvPr id="9" name="Freeform 9"/>
            <p:cNvSpPr/>
            <p:nvPr/>
          </p:nvSpPr>
          <p:spPr>
            <a:xfrm>
              <a:off x="0" y="0"/>
              <a:ext cx="96099" cy="1431738"/>
            </a:xfrm>
            <a:custGeom>
              <a:avLst/>
              <a:gdLst/>
              <a:ahLst/>
              <a:cxnLst/>
              <a:rect l="l" t="t" r="r" b="b"/>
              <a:pathLst>
                <a:path w="96099" h="1431738">
                  <a:moveTo>
                    <a:pt x="0" y="0"/>
                  </a:moveTo>
                  <a:lnTo>
                    <a:pt x="96099" y="0"/>
                  </a:lnTo>
                  <a:lnTo>
                    <a:pt x="96099" y="1431738"/>
                  </a:lnTo>
                  <a:lnTo>
                    <a:pt x="0" y="1431738"/>
                  </a:lnTo>
                  <a:close/>
                </a:path>
              </a:pathLst>
            </a:custGeom>
            <a:solidFill>
              <a:srgbClr val="000000"/>
            </a:solidFill>
          </p:spPr>
          <p:txBody>
            <a:bodyPr/>
            <a:lstStyle/>
            <a:p>
              <a:endParaRPr lang="en-US"/>
            </a:p>
          </p:txBody>
        </p:sp>
        <p:sp>
          <p:nvSpPr>
            <p:cNvPr id="10" name="TextBox 10"/>
            <p:cNvSpPr txBox="1"/>
            <p:nvPr/>
          </p:nvSpPr>
          <p:spPr>
            <a:xfrm>
              <a:off x="0" y="-38100"/>
              <a:ext cx="96099" cy="1469838"/>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7848600" y="933450"/>
            <a:ext cx="2667000"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Kernels</a:t>
            </a:r>
          </a:p>
        </p:txBody>
      </p:sp>
      <p:sp>
        <p:nvSpPr>
          <p:cNvPr id="4" name="TextBox 4"/>
          <p:cNvSpPr txBox="1"/>
          <p:nvPr/>
        </p:nvSpPr>
        <p:spPr>
          <a:xfrm>
            <a:off x="4338336" y="2175828"/>
            <a:ext cx="9611327" cy="2040890"/>
          </a:xfrm>
          <a:prstGeom prst="rect">
            <a:avLst/>
          </a:prstGeom>
        </p:spPr>
        <p:txBody>
          <a:bodyPr lIns="0" tIns="0" rIns="0" bIns="0" rtlCol="0" anchor="t">
            <a:spAutoFit/>
          </a:bodyPr>
          <a:lstStyle/>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Small matrix (e.g., 3x3, 5x5) for transformations like blur, sharpening, edge detection.</a:t>
            </a:r>
          </a:p>
          <a:p>
            <a:pPr marL="626112" lvl="1" indent="-313056" algn="l">
              <a:lnSpc>
                <a:spcPts val="4060"/>
              </a:lnSpc>
              <a:buFont typeface="Arial"/>
              <a:buChar char="•"/>
            </a:pPr>
            <a:r>
              <a:rPr lang="en-US" sz="2900">
                <a:solidFill>
                  <a:srgbClr val="FFFFFF"/>
                </a:solidFill>
                <a:latin typeface="Canva Sans"/>
                <a:ea typeface="Canva Sans"/>
                <a:cs typeface="Canva Sans"/>
                <a:sym typeface="Canva Sans"/>
              </a:rPr>
              <a:t>Slides over image, computes weighted sum for each pixel via convolution.</a:t>
            </a:r>
          </a:p>
        </p:txBody>
      </p:sp>
      <p:sp>
        <p:nvSpPr>
          <p:cNvPr id="5" name="TextBox 5"/>
          <p:cNvSpPr txBox="1"/>
          <p:nvPr/>
        </p:nvSpPr>
        <p:spPr>
          <a:xfrm>
            <a:off x="4338336" y="4673917"/>
            <a:ext cx="9611327" cy="1526540"/>
          </a:xfrm>
          <a:prstGeom prst="rect">
            <a:avLst/>
          </a:prstGeom>
        </p:spPr>
        <p:txBody>
          <a:bodyPr lIns="0" tIns="0" rIns="0" bIns="0" rtlCol="0" anchor="t">
            <a:spAutoFit/>
          </a:bodyPr>
          <a:lstStyle/>
          <a:p>
            <a:pPr algn="ctr">
              <a:lnSpc>
                <a:spcPts val="4060"/>
              </a:lnSpc>
            </a:pPr>
            <a:r>
              <a:rPr lang="en-US" sz="2900">
                <a:solidFill>
                  <a:srgbClr val="FFFFFF"/>
                </a:solidFill>
                <a:latin typeface="Canva Sans"/>
                <a:ea typeface="Canva Sans"/>
                <a:cs typeface="Canva Sans"/>
                <a:sym typeface="Canva Sans"/>
              </a:rPr>
              <a:t>Kernels can be used for performing blurring techniques. Below given are some popular blurring techniques used in OpenCV</a:t>
            </a:r>
          </a:p>
        </p:txBody>
      </p:sp>
      <p:sp>
        <p:nvSpPr>
          <p:cNvPr id="6" name="TextBox 6"/>
          <p:cNvSpPr txBox="1"/>
          <p:nvPr/>
        </p:nvSpPr>
        <p:spPr>
          <a:xfrm>
            <a:off x="4338336" y="6909662"/>
            <a:ext cx="9611327" cy="2537460"/>
          </a:xfrm>
          <a:prstGeom prst="rect">
            <a:avLst/>
          </a:prstGeom>
        </p:spPr>
        <p:txBody>
          <a:bodyPr lIns="0" tIns="0" rIns="0" bIns="0" rtlCol="0" anchor="t">
            <a:spAutoFit/>
          </a:bodyPr>
          <a:lstStyle/>
          <a:p>
            <a:pPr marL="626112" lvl="1" indent="-313056" algn="l">
              <a:lnSpc>
                <a:spcPts val="4060"/>
              </a:lnSpc>
              <a:buFont typeface="Arial"/>
              <a:buChar char="•"/>
            </a:pPr>
            <a:r>
              <a:rPr lang="en-US" sz="2900" b="1">
                <a:solidFill>
                  <a:srgbClr val="FFFFFF"/>
                </a:solidFill>
                <a:latin typeface="Canva Sans Bold"/>
                <a:ea typeface="Canva Sans Bold"/>
                <a:cs typeface="Canva Sans Bold"/>
                <a:sym typeface="Canva Sans Bold"/>
              </a:rPr>
              <a:t>Gaussian Blur</a:t>
            </a:r>
          </a:p>
          <a:p>
            <a:pPr marL="626112" lvl="1" indent="-313056" algn="l">
              <a:lnSpc>
                <a:spcPts val="4060"/>
              </a:lnSpc>
              <a:buFont typeface="Arial"/>
              <a:buChar char="•"/>
            </a:pPr>
            <a:r>
              <a:rPr lang="en-US" sz="2900" b="1">
                <a:solidFill>
                  <a:srgbClr val="FFFFFF"/>
                </a:solidFill>
                <a:latin typeface="Canva Sans Bold"/>
                <a:ea typeface="Canva Sans Bold"/>
                <a:cs typeface="Canva Sans Bold"/>
                <a:sym typeface="Canva Sans Bold"/>
              </a:rPr>
              <a:t>Average Blur</a:t>
            </a:r>
          </a:p>
          <a:p>
            <a:pPr marL="626112" lvl="1" indent="-313056" algn="l">
              <a:lnSpc>
                <a:spcPts val="4060"/>
              </a:lnSpc>
              <a:buFont typeface="Arial"/>
              <a:buChar char="•"/>
            </a:pPr>
            <a:r>
              <a:rPr lang="en-US" sz="2900" b="1">
                <a:solidFill>
                  <a:srgbClr val="FFFFFF"/>
                </a:solidFill>
                <a:latin typeface="Canva Sans Bold"/>
                <a:ea typeface="Canva Sans Bold"/>
                <a:cs typeface="Canva Sans Bold"/>
                <a:sym typeface="Canva Sans Bold"/>
              </a:rPr>
              <a:t>Bilateral</a:t>
            </a:r>
          </a:p>
          <a:p>
            <a:pPr marL="626112" lvl="1" indent="-313056" algn="l">
              <a:lnSpc>
                <a:spcPts val="4060"/>
              </a:lnSpc>
              <a:buFont typeface="Arial"/>
              <a:buChar char="•"/>
            </a:pPr>
            <a:r>
              <a:rPr lang="en-US" sz="2900" b="1">
                <a:solidFill>
                  <a:srgbClr val="FFFFFF"/>
                </a:solidFill>
                <a:latin typeface="Canva Sans Bold"/>
                <a:ea typeface="Canva Sans Bold"/>
                <a:cs typeface="Canva Sans Bold"/>
                <a:sym typeface="Canva Sans Bold"/>
              </a:rPr>
              <a:t>Median</a:t>
            </a:r>
          </a:p>
          <a:p>
            <a:pPr algn="ctr">
              <a:lnSpc>
                <a:spcPts val="3920"/>
              </a:lnSpc>
            </a:pPr>
            <a:endParaRPr lang="en-US" sz="2900" b="1">
              <a:solidFill>
                <a:srgbClr val="FFFFFF"/>
              </a:solidFill>
              <a:latin typeface="Canva Sans Bold"/>
              <a:ea typeface="Canva Sans Bold"/>
              <a:cs typeface="Canva Sans Bold"/>
              <a:sym typeface="Canva Sa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252715" y="933450"/>
            <a:ext cx="5782570" cy="830034"/>
          </a:xfrm>
          <a:prstGeom prst="rect">
            <a:avLst/>
          </a:prstGeom>
        </p:spPr>
        <p:txBody>
          <a:bodyPr lIns="0" tIns="0" rIns="0" bIns="0" rtlCol="0" anchor="t">
            <a:spAutoFit/>
          </a:bodyPr>
          <a:lstStyle/>
          <a:p>
            <a:pPr algn="ctr">
              <a:lnSpc>
                <a:spcPts val="6750"/>
              </a:lnSpc>
            </a:pPr>
            <a:r>
              <a:rPr lang="en-US" sz="4821" b="1">
                <a:solidFill>
                  <a:srgbClr val="FFFFFF"/>
                </a:solidFill>
                <a:latin typeface="HK Grotesk Bold"/>
                <a:ea typeface="HK Grotesk Bold"/>
                <a:cs typeface="HK Grotesk Bold"/>
                <a:sym typeface="HK Grotesk Bold"/>
              </a:rPr>
              <a:t>Gaussian Blurring</a:t>
            </a:r>
          </a:p>
        </p:txBody>
      </p:sp>
      <p:sp>
        <p:nvSpPr>
          <p:cNvPr id="4" name="TextBox 4"/>
          <p:cNvSpPr txBox="1"/>
          <p:nvPr/>
        </p:nvSpPr>
        <p:spPr>
          <a:xfrm>
            <a:off x="4338336" y="2289190"/>
            <a:ext cx="9611327" cy="3980815"/>
          </a:xfrm>
          <a:prstGeom prst="rect">
            <a:avLst/>
          </a:prstGeom>
        </p:spPr>
        <p:txBody>
          <a:bodyPr lIns="0" tIns="0" rIns="0" bIns="0" rtlCol="0" anchor="t">
            <a:spAutoFit/>
          </a:bodyPr>
          <a:lstStyle/>
          <a:p>
            <a:pPr algn="ctr">
              <a:lnSpc>
                <a:spcPts val="4480"/>
              </a:lnSpc>
            </a:pPr>
            <a:r>
              <a:rPr lang="en-US" sz="3200">
                <a:solidFill>
                  <a:srgbClr val="FFFFFF"/>
                </a:solidFill>
                <a:latin typeface="Canva Sans"/>
                <a:ea typeface="Canva Sans"/>
                <a:cs typeface="Canva Sans"/>
                <a:sym typeface="Canva Sans"/>
              </a:rPr>
              <a:t>  - Uses a Gaussian kernel to smooth the image</a:t>
            </a:r>
          </a:p>
          <a:p>
            <a:pPr algn="ctr">
              <a:lnSpc>
                <a:spcPts val="4480"/>
              </a:lnSpc>
            </a:pPr>
            <a:r>
              <a:rPr lang="en-US" sz="3200">
                <a:solidFill>
                  <a:srgbClr val="FFFFFF"/>
                </a:solidFill>
                <a:latin typeface="Canva Sans"/>
                <a:ea typeface="Canva Sans"/>
                <a:cs typeface="Canva Sans"/>
                <a:sym typeface="Canva Sans"/>
              </a:rPr>
              <a:t>  - The (a,a) parameter defines the kernel size</a:t>
            </a:r>
          </a:p>
          <a:p>
            <a:pPr algn="ctr">
              <a:lnSpc>
                <a:spcPts val="4480"/>
              </a:lnSpc>
            </a:pPr>
            <a:r>
              <a:rPr lang="en-US" sz="3200">
                <a:solidFill>
                  <a:srgbClr val="FFFFFF"/>
                </a:solidFill>
                <a:latin typeface="Canva Sans"/>
                <a:ea typeface="Canva Sans"/>
                <a:cs typeface="Canva Sans"/>
                <a:sym typeface="Canva Sans"/>
              </a:rPr>
              <a:t>  - Sigma=0 lets OpenCV calculate the standard deviation</a:t>
            </a:r>
          </a:p>
          <a:p>
            <a:pPr algn="ctr">
              <a:lnSpc>
                <a:spcPts val="4480"/>
              </a:lnSpc>
            </a:pPr>
            <a:r>
              <a:rPr lang="en-US" sz="3200">
                <a:solidFill>
                  <a:srgbClr val="FFFFFF"/>
                </a:solidFill>
                <a:latin typeface="Canva Sans"/>
                <a:ea typeface="Canva Sans"/>
                <a:cs typeface="Canva Sans"/>
                <a:sym typeface="Canva Sans"/>
              </a:rPr>
              <a:t>  - Effective for reducing Gaussian noise</a:t>
            </a:r>
          </a:p>
          <a:p>
            <a:pPr algn="ctr">
              <a:lnSpc>
                <a:spcPts val="4480"/>
              </a:lnSpc>
            </a:pPr>
            <a:r>
              <a:rPr lang="en-US" sz="3200">
                <a:solidFill>
                  <a:srgbClr val="FFFFFF"/>
                </a:solidFill>
                <a:latin typeface="Canva Sans"/>
                <a:ea typeface="Canva Sans"/>
                <a:cs typeface="Canva Sans"/>
                <a:sym typeface="Canva Sans"/>
              </a:rPr>
              <a:t>  - Blurs more in flat areas, less near edges</a:t>
            </a:r>
          </a:p>
          <a:p>
            <a:pPr algn="ctr">
              <a:lnSpc>
                <a:spcPts val="5039"/>
              </a:lnSpc>
            </a:pPr>
            <a:endParaRPr lang="en-US" sz="3200">
              <a:solidFill>
                <a:srgbClr val="FFFFFF"/>
              </a:solidFill>
              <a:latin typeface="Canva Sans"/>
              <a:ea typeface="Canva Sans"/>
              <a:cs typeface="Canva Sans"/>
              <a:sym typeface="Canv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0"/>
            <a:ext cx="9611327" cy="10287000"/>
          </a:xfrm>
          <a:custGeom>
            <a:avLst/>
            <a:gdLst/>
            <a:ahLst/>
            <a:cxnLst/>
            <a:rect l="l" t="t" r="r" b="b"/>
            <a:pathLst>
              <a:path w="9611327" h="10287000">
                <a:moveTo>
                  <a:pt x="0" y="0"/>
                </a:moveTo>
                <a:lnTo>
                  <a:pt x="9611328" y="0"/>
                </a:lnTo>
                <a:lnTo>
                  <a:pt x="9611328" y="10287000"/>
                </a:lnTo>
                <a:lnTo>
                  <a:pt x="0" y="10287000"/>
                </a:lnTo>
                <a:lnTo>
                  <a:pt x="0" y="0"/>
                </a:lnTo>
                <a:close/>
              </a:path>
            </a:pathLst>
          </a:custGeom>
          <a:blipFill>
            <a:blip r:embed="rId3"/>
            <a:stretch>
              <a:fillRect t="-31826"/>
            </a:stretch>
          </a:blipFill>
        </p:spPr>
        <p:txBody>
          <a:bodyPr/>
          <a:lstStyle/>
          <a:p>
            <a:endParaRPr lang="en-US"/>
          </a:p>
        </p:txBody>
      </p:sp>
      <p:sp>
        <p:nvSpPr>
          <p:cNvPr id="4" name="Freeform 4"/>
          <p:cNvSpPr/>
          <p:nvPr/>
        </p:nvSpPr>
        <p:spPr>
          <a:xfrm>
            <a:off x="1202129" y="0"/>
            <a:ext cx="15883742" cy="10287000"/>
          </a:xfrm>
          <a:custGeom>
            <a:avLst/>
            <a:gdLst/>
            <a:ahLst/>
            <a:cxnLst/>
            <a:rect l="l" t="t" r="r" b="b"/>
            <a:pathLst>
              <a:path w="15883742" h="10287000">
                <a:moveTo>
                  <a:pt x="0" y="0"/>
                </a:moveTo>
                <a:lnTo>
                  <a:pt x="15883742" y="0"/>
                </a:lnTo>
                <a:lnTo>
                  <a:pt x="15883742" y="10287000"/>
                </a:lnTo>
                <a:lnTo>
                  <a:pt x="0" y="10287000"/>
                </a:lnTo>
                <a:lnTo>
                  <a:pt x="0" y="0"/>
                </a:lnTo>
                <a:close/>
              </a:path>
            </a:pathLst>
          </a:custGeom>
          <a:blipFill>
            <a:blip r:embed="rId4"/>
            <a:stretch>
              <a:fillRect l="-1096" r="-1096"/>
            </a:stretch>
          </a:blipFill>
        </p:spPr>
        <p:txBody>
          <a:bodyPr/>
          <a:lstStyle/>
          <a:p>
            <a:endParaRPr lang="en-US"/>
          </a:p>
        </p:txBody>
      </p:sp>
      <p:sp>
        <p:nvSpPr>
          <p:cNvPr id="5" name="TextBox 5"/>
          <p:cNvSpPr txBox="1"/>
          <p:nvPr/>
        </p:nvSpPr>
        <p:spPr>
          <a:xfrm>
            <a:off x="9139238" y="4652327"/>
            <a:ext cx="9525" cy="887095"/>
          </a:xfrm>
          <a:prstGeom prst="rect">
            <a:avLst/>
          </a:prstGeom>
        </p:spPr>
        <p:txBody>
          <a:bodyPr lIns="0" tIns="0" rIns="0" bIns="0" rtlCol="0" anchor="t">
            <a:spAutoFit/>
          </a:bodyPr>
          <a:lstStyle/>
          <a:p>
            <a:pPr algn="ctr">
              <a:lnSpc>
                <a:spcPts val="7279"/>
              </a:lnSpc>
            </a:pPr>
            <a:endParaRPr/>
          </a:p>
        </p:txBody>
      </p:sp>
      <p:sp>
        <p:nvSpPr>
          <p:cNvPr id="6" name="TextBox 6"/>
          <p:cNvSpPr txBox="1"/>
          <p:nvPr/>
        </p:nvSpPr>
        <p:spPr>
          <a:xfrm>
            <a:off x="1490953" y="448310"/>
            <a:ext cx="1661755"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Original</a:t>
            </a:r>
          </a:p>
        </p:txBody>
      </p:sp>
      <p:sp>
        <p:nvSpPr>
          <p:cNvPr id="7" name="TextBox 7"/>
          <p:cNvSpPr txBox="1"/>
          <p:nvPr/>
        </p:nvSpPr>
        <p:spPr>
          <a:xfrm>
            <a:off x="1950237" y="5472748"/>
            <a:ext cx="743188"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5x5</a:t>
            </a:r>
          </a:p>
        </p:txBody>
      </p:sp>
      <p:sp>
        <p:nvSpPr>
          <p:cNvPr id="8" name="TextBox 8"/>
          <p:cNvSpPr txBox="1"/>
          <p:nvPr/>
        </p:nvSpPr>
        <p:spPr>
          <a:xfrm>
            <a:off x="9558101" y="448310"/>
            <a:ext cx="781169"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9x9</a:t>
            </a:r>
          </a:p>
        </p:txBody>
      </p:sp>
      <p:sp>
        <p:nvSpPr>
          <p:cNvPr id="9" name="TextBox 9"/>
          <p:cNvSpPr txBox="1"/>
          <p:nvPr/>
        </p:nvSpPr>
        <p:spPr>
          <a:xfrm>
            <a:off x="9354266" y="5472748"/>
            <a:ext cx="1188839" cy="580390"/>
          </a:xfrm>
          <a:prstGeom prst="rect">
            <a:avLst/>
          </a:prstGeom>
        </p:spPr>
        <p:txBody>
          <a:bodyPr lIns="0" tIns="0" rIns="0" bIns="0" rtlCol="0" anchor="t">
            <a:spAutoFit/>
          </a:bodyPr>
          <a:lstStyle/>
          <a:p>
            <a:pPr algn="ctr">
              <a:lnSpc>
                <a:spcPts val="4759"/>
              </a:lnSpc>
            </a:pPr>
            <a:r>
              <a:rPr lang="en-US" sz="3399" b="1">
                <a:solidFill>
                  <a:srgbClr val="FFFFFF"/>
                </a:solidFill>
                <a:latin typeface="Canva Sans Bold"/>
                <a:ea typeface="Canva Sans Bold"/>
                <a:cs typeface="Canva Sans Bold"/>
                <a:sym typeface="Canva Sans Bold"/>
              </a:rPr>
              <a:t>31x31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5999848" y="537527"/>
            <a:ext cx="6288304"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Haar Cascades</a:t>
            </a:r>
          </a:p>
        </p:txBody>
      </p:sp>
      <p:sp>
        <p:nvSpPr>
          <p:cNvPr id="4" name="TextBox 4"/>
          <p:cNvSpPr txBox="1"/>
          <p:nvPr/>
        </p:nvSpPr>
        <p:spPr>
          <a:xfrm>
            <a:off x="4338336" y="1943238"/>
            <a:ext cx="9611327" cy="1417320"/>
          </a:xfrm>
          <a:prstGeom prst="rect">
            <a:avLst/>
          </a:prstGeom>
        </p:spPr>
        <p:txBody>
          <a:bodyPr lIns="0" tIns="0" rIns="0" bIns="0" rtlCol="0" anchor="t">
            <a:spAutoFit/>
          </a:bodyPr>
          <a:lstStyle/>
          <a:p>
            <a:pPr algn="ctr">
              <a:lnSpc>
                <a:spcPts val="3780"/>
              </a:lnSpc>
            </a:pPr>
            <a:r>
              <a:rPr lang="en-US" sz="2700">
                <a:solidFill>
                  <a:srgbClr val="FFFFFF"/>
                </a:solidFill>
                <a:latin typeface="Canva Sans"/>
                <a:ea typeface="Canva Sans"/>
                <a:cs typeface="Canva Sans"/>
                <a:sym typeface="Canva Sans"/>
              </a:rPr>
              <a:t>Haar Cascades are fast, machine learning-based object detectors used widely for face and body detection in images and video.</a:t>
            </a:r>
          </a:p>
        </p:txBody>
      </p:sp>
      <p:sp>
        <p:nvSpPr>
          <p:cNvPr id="5" name="TextBox 5"/>
          <p:cNvSpPr txBox="1"/>
          <p:nvPr/>
        </p:nvSpPr>
        <p:spPr>
          <a:xfrm>
            <a:off x="4338336" y="3675136"/>
            <a:ext cx="9611327" cy="6713195"/>
          </a:xfrm>
          <a:prstGeom prst="rect">
            <a:avLst/>
          </a:prstGeom>
        </p:spPr>
        <p:txBody>
          <a:bodyPr lIns="0" tIns="0" rIns="0" bIns="0" rtlCol="0" anchor="t">
            <a:spAutoFit/>
          </a:bodyPr>
          <a:lstStyle/>
          <a:p>
            <a:pPr marL="670949" lvl="1" indent="-335475" algn="l">
              <a:lnSpc>
                <a:spcPts val="4350"/>
              </a:lnSpc>
              <a:buFont typeface="Arial"/>
              <a:buChar char="•"/>
            </a:pPr>
            <a:r>
              <a:rPr lang="en-US" sz="3107" b="1">
                <a:solidFill>
                  <a:srgbClr val="FFFFFF"/>
                </a:solidFill>
                <a:latin typeface="Canva Sans Bold"/>
                <a:ea typeface="Canva Sans Bold"/>
                <a:cs typeface="Canva Sans Bold"/>
                <a:sym typeface="Canva Sans Bold"/>
              </a:rPr>
              <a:t>Sliding Window</a:t>
            </a:r>
            <a:r>
              <a:rPr lang="en-US" sz="3107">
                <a:solidFill>
                  <a:srgbClr val="FFFFFF"/>
                </a:solidFill>
                <a:latin typeface="Canva Sans"/>
                <a:ea typeface="Canva Sans"/>
                <a:cs typeface="Canva Sans"/>
                <a:sym typeface="Canva Sans"/>
              </a:rPr>
              <a:t>: Scans the image at multiple scales.</a:t>
            </a:r>
          </a:p>
          <a:p>
            <a:pPr marL="670949" lvl="1" indent="-335475" algn="l">
              <a:lnSpc>
                <a:spcPts val="4350"/>
              </a:lnSpc>
              <a:buFont typeface="Arial"/>
              <a:buChar char="•"/>
            </a:pPr>
            <a:r>
              <a:rPr lang="en-US" sz="3107" b="1">
                <a:solidFill>
                  <a:srgbClr val="FFFFFF"/>
                </a:solidFill>
                <a:latin typeface="Canva Sans Bold"/>
                <a:ea typeface="Canva Sans Bold"/>
                <a:cs typeface="Canva Sans Bold"/>
                <a:sym typeface="Canva Sans Bold"/>
              </a:rPr>
              <a:t>Haar Features</a:t>
            </a:r>
            <a:r>
              <a:rPr lang="en-US" sz="3107">
                <a:solidFill>
                  <a:srgbClr val="FFFFFF"/>
                </a:solidFill>
                <a:latin typeface="Canva Sans"/>
                <a:ea typeface="Canva Sans"/>
                <a:cs typeface="Canva Sans"/>
                <a:sym typeface="Canva Sans"/>
              </a:rPr>
              <a:t>: Simple patterns (e.g., edge/line contrasts) that capture visual structure.</a:t>
            </a:r>
          </a:p>
          <a:p>
            <a:pPr marL="670949" lvl="1" indent="-335475" algn="l">
              <a:lnSpc>
                <a:spcPts val="4350"/>
              </a:lnSpc>
              <a:buFont typeface="Arial"/>
              <a:buChar char="•"/>
            </a:pPr>
            <a:r>
              <a:rPr lang="en-US" sz="3107" b="1">
                <a:solidFill>
                  <a:srgbClr val="FFFFFF"/>
                </a:solidFill>
                <a:latin typeface="Canva Sans Bold"/>
                <a:ea typeface="Canva Sans Bold"/>
                <a:cs typeface="Canva Sans Bold"/>
                <a:sym typeface="Canva Sans Bold"/>
              </a:rPr>
              <a:t>Integral Image</a:t>
            </a:r>
            <a:r>
              <a:rPr lang="en-US" sz="3107">
                <a:solidFill>
                  <a:srgbClr val="FFFFFF"/>
                </a:solidFill>
                <a:latin typeface="Canva Sans"/>
                <a:ea typeface="Canva Sans"/>
                <a:cs typeface="Canva Sans"/>
                <a:sym typeface="Canva Sans"/>
              </a:rPr>
              <a:t>: Speeds up feature calculation.</a:t>
            </a:r>
          </a:p>
          <a:p>
            <a:pPr marL="670949" lvl="1" indent="-335475" algn="l">
              <a:lnSpc>
                <a:spcPts val="4350"/>
              </a:lnSpc>
              <a:buFont typeface="Arial"/>
              <a:buChar char="•"/>
            </a:pPr>
            <a:r>
              <a:rPr lang="en-US" sz="3107" b="1">
                <a:solidFill>
                  <a:srgbClr val="FFFFFF"/>
                </a:solidFill>
                <a:latin typeface="Canva Sans Bold"/>
                <a:ea typeface="Canva Sans Bold"/>
                <a:cs typeface="Canva Sans Bold"/>
                <a:sym typeface="Canva Sans Bold"/>
              </a:rPr>
              <a:t>Cascade of Classifiers</a:t>
            </a:r>
            <a:r>
              <a:rPr lang="en-US" sz="3107">
                <a:solidFill>
                  <a:srgbClr val="FFFFFF"/>
                </a:solidFill>
                <a:latin typeface="Canva Sans"/>
                <a:ea typeface="Canva Sans"/>
                <a:cs typeface="Canva Sans"/>
                <a:sym typeface="Canva Sans"/>
              </a:rPr>
              <a:t>: A multi-stage filter that quickly rejects non-object areas and focuses computation on likely matches.</a:t>
            </a:r>
          </a:p>
          <a:p>
            <a:pPr marL="670949" lvl="1" indent="-335475" algn="l">
              <a:lnSpc>
                <a:spcPts val="4350"/>
              </a:lnSpc>
              <a:buFont typeface="Arial"/>
              <a:buChar char="•"/>
            </a:pPr>
            <a:r>
              <a:rPr lang="en-US" sz="3107" b="1">
                <a:solidFill>
                  <a:srgbClr val="FFFFFF"/>
                </a:solidFill>
                <a:latin typeface="Canva Sans Bold"/>
                <a:ea typeface="Canva Sans Bold"/>
                <a:cs typeface="Canva Sans Bold"/>
                <a:sym typeface="Canva Sans Bold"/>
              </a:rPr>
              <a:t>Trained Model</a:t>
            </a:r>
            <a:r>
              <a:rPr lang="en-US" sz="3107">
                <a:solidFill>
                  <a:srgbClr val="FFFFFF"/>
                </a:solidFill>
                <a:latin typeface="Canva Sans"/>
                <a:ea typeface="Canva Sans"/>
                <a:cs typeface="Canva Sans"/>
                <a:sym typeface="Canva Sans"/>
              </a:rPr>
              <a:t>: AdaBoost is used to select the best features from thousands of training images.</a:t>
            </a:r>
          </a:p>
          <a:p>
            <a:pPr algn="ctr">
              <a:lnSpc>
                <a:spcPts val="5311"/>
              </a:lnSpc>
            </a:pPr>
            <a:endParaRPr lang="en-US" sz="3107">
              <a:solidFill>
                <a:srgbClr val="FFFFFF"/>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4338336" y="0"/>
            <a:ext cx="9611327" cy="10287000"/>
          </a:xfrm>
          <a:custGeom>
            <a:avLst/>
            <a:gdLst/>
            <a:ahLst/>
            <a:cxnLst/>
            <a:rect l="l" t="t" r="r" b="b"/>
            <a:pathLst>
              <a:path w="9611327" h="10287000">
                <a:moveTo>
                  <a:pt x="0" y="0"/>
                </a:moveTo>
                <a:lnTo>
                  <a:pt x="9611328" y="0"/>
                </a:lnTo>
                <a:lnTo>
                  <a:pt x="9611328" y="10287000"/>
                </a:lnTo>
                <a:lnTo>
                  <a:pt x="0" y="10287000"/>
                </a:lnTo>
                <a:lnTo>
                  <a:pt x="0" y="0"/>
                </a:lnTo>
                <a:close/>
              </a:path>
            </a:pathLst>
          </a:custGeom>
          <a:blipFill>
            <a:blip r:embed="rId3"/>
            <a:stretch>
              <a:fillRect t="-31826"/>
            </a:stretch>
          </a:blipFill>
        </p:spPr>
        <p:txBody>
          <a:bodyPr/>
          <a:lstStyle/>
          <a:p>
            <a:endParaRPr lang="en-US"/>
          </a:p>
        </p:txBody>
      </p:sp>
      <p:sp>
        <p:nvSpPr>
          <p:cNvPr id="4" name="Freeform 4"/>
          <p:cNvSpPr/>
          <p:nvPr/>
        </p:nvSpPr>
        <p:spPr>
          <a:xfrm>
            <a:off x="1028700" y="20717"/>
            <a:ext cx="16230600" cy="10245566"/>
          </a:xfrm>
          <a:custGeom>
            <a:avLst/>
            <a:gdLst/>
            <a:ahLst/>
            <a:cxnLst/>
            <a:rect l="l" t="t" r="r" b="b"/>
            <a:pathLst>
              <a:path w="16230600" h="10245566">
                <a:moveTo>
                  <a:pt x="0" y="0"/>
                </a:moveTo>
                <a:lnTo>
                  <a:pt x="16230600" y="0"/>
                </a:lnTo>
                <a:lnTo>
                  <a:pt x="16230600" y="10245566"/>
                </a:lnTo>
                <a:lnTo>
                  <a:pt x="0" y="10245566"/>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087420" y="4652327"/>
            <a:ext cx="6113159"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603</Words>
  <Application>Microsoft Office PowerPoint</Application>
  <PresentationFormat>Custom</PresentationFormat>
  <Paragraphs>69</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Canva Sans</vt:lpstr>
      <vt:lpstr>Glacial Indifference Bold</vt:lpstr>
      <vt:lpstr>HK Grotesk Bold</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IEMCT &amp; IECSE presents</dc:title>
  <cp:lastModifiedBy>Adi Narayan R S - 123161084 - MITMPL</cp:lastModifiedBy>
  <cp:revision>3</cp:revision>
  <dcterms:created xsi:type="dcterms:W3CDTF">2006-08-16T00:00:00Z</dcterms:created>
  <dcterms:modified xsi:type="dcterms:W3CDTF">2025-04-14T11:11:21Z</dcterms:modified>
  <dc:identifier>DAGkhT2JLmY</dc:identifier>
</cp:coreProperties>
</file>